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61" r:id="rId5"/>
    <p:sldId id="262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38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54DEA-008D-F05F-5B9B-8EF5ECF52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7194E4-322A-A0D1-011B-C4D5A72B8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A6C4E-B97D-C8DE-A56E-7D6B060A3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0DFBA-98A1-FBD1-B6E5-E80799094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495B8-1825-67C3-132F-6047F0578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12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484CE-AFCD-812F-A259-25F7B103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C0024-9F69-23CB-1D2B-850C78B54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2774F-CE3D-2A97-29DC-6B522119D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3CF31-F896-4954-9212-122CE2C37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AD8A1-F939-74EB-E2AC-EB68CE4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2ED19-4D30-4821-8C52-49BF98549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28B97-6F32-348D-B59E-B2DACF438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4FA99-9FE5-1F4F-4C3B-62DE581FD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0BB42-2737-89F1-9D7E-FDFF38433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9D864-FE61-5E9A-CD18-9F9D8E515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35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720-90D4-1192-45CE-EC3513A43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E6BF8-BD30-0931-4E4C-07E7DEF75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9B256-1134-764D-D504-D5767F0168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6086A-5C66-7484-D0E0-F6C473CDF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856D1-F63C-608B-B150-F80CB3A61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4E9D1-FA6E-8750-4178-1CB2DBE63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022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F45F3-5C57-BB33-9BCF-B3FC3B41E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AA822-D3B9-49B6-068F-64664BD9F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B69D39-4358-F789-3F7B-6D4A9E8BF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391A3F-5E3E-2DCB-F8AA-C3B68235CC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48A006-BDFD-780C-A951-D1ACD413B0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73F973-7A18-F987-4A8A-14552C2D8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60DC99-5C26-E6BF-8B72-E094BEFF3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B2ECDF-5B91-CBC7-04B0-4E6C933CE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04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67B3-A191-E162-BC31-BA4C376D4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D846C0-59E5-C53C-DE71-3E0471B20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35ECDB-4D7D-EAB5-EEDD-7F65E8F35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032F3-13F1-D212-97F8-E714B85A2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2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1E2343-5DBA-FE13-1DEE-9E9C22F17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A910D6-3221-4EE0-1467-5B21DFA4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63F8C-E4F7-C761-CCF1-F7B53C14C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93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EFB6E-BDA5-034D-80DE-433EE38F2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46BA4-B546-C0C7-BA5E-F87503D9F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F241EE-5E3F-D0E4-C3B6-53EBE294B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DA2A0-26EB-4C76-56B4-8759B01F9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E1191-9789-EB86-65D7-A9FA00D81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C4274-CC58-F3B9-DA32-764907623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39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4116B-3ED3-4795-1895-A3CA334E8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2296C6-FCA7-4885-57A9-9A7F9C8016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05EEA-1A70-A4AC-6F27-B12817467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C40DD-784B-54D0-63CE-18F10939C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5BFF0-B385-A4EA-5DBD-8076E5021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4772A-B6F0-4DD7-73DD-BA85B9225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474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CC773-D954-5C20-3014-71C8D3FAF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9FD47-EB0D-596F-1805-7241B40BD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20C29-3567-1227-3933-5A1E0B5CF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5AF14-AD7A-93F8-753E-D95CC4D8F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42BF3-5074-28A8-E48F-2C4B6D62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33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3450A2-7BAA-A668-C5D6-50039916F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7DC543-9EBE-3110-0CF1-C783C8CBD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7AE64-1779-CE11-6418-1BB28D651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72663-EC6B-5333-219A-E6ABA7E5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2A9EC-6912-2016-DB5E-C7830BFCD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21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E172A4-5360-00DF-E672-3AA332EB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66F57-435F-9183-5F5B-E722FEAE8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EC0C0-0BB4-E918-66FC-B46ADD022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B3B2D-1E90-2353-A214-700D6D24A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82A45-54C5-FF07-F67B-D83BCA848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3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32638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829175"/>
            <a:ext cx="10668000" cy="1266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8380" y="2108150"/>
            <a:ext cx="11201400" cy="2340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142"/>
              </a:lnSpc>
            </a:pPr>
            <a:r>
              <a:rPr sz="5850" b="0" i="0" u="none" dirty="0">
                <a:solidFill>
                  <a:srgbClr val="1C1C1C"/>
                </a:solidFill>
                <a:latin typeface="Playfair Display SemiBold"/>
              </a:rPr>
              <a:t>Multi-Agent Systems</a:t>
            </a:r>
            <a:r>
              <a:rPr dirty="0"/>
              <a:t>
</a:t>
            </a:r>
            <a:r>
              <a:rPr sz="5850" b="0" i="0" u="none" dirty="0">
                <a:solidFill>
                  <a:srgbClr val="1C1C1C"/>
                </a:solidFill>
                <a:latin typeface="Playfair Display SemiBold"/>
              </a:rPr>
              <a:t> for </a:t>
            </a:r>
            <a:r>
              <a:rPr sz="5850" b="0" i="0" u="none" dirty="0">
                <a:solidFill>
                  <a:srgbClr val="E05A47"/>
                </a:solidFill>
                <a:latin typeface="Playfair Display SemiBold"/>
              </a:rPr>
              <a:t>Disaster</a:t>
            </a:r>
            <a:r>
              <a:rPr dirty="0"/>
              <a:t>
</a:t>
            </a:r>
            <a:r>
              <a:rPr sz="5850" b="0" i="0" u="none" dirty="0">
                <a:solidFill>
                  <a:srgbClr val="1C1C1C"/>
                </a:solidFill>
                <a:latin typeface="Playfair Display SemiBold"/>
              </a:rPr>
              <a:t>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153025"/>
            <a:ext cx="571500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A3A3A"/>
                </a:solidFill>
                <a:latin typeface="DM Sans"/>
              </a:rPr>
              <a:t>Decentralized AI coordination for real-time crisis detection, dynamic resource allocation, and automated response protocols.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29700" y="5153025"/>
            <a:ext cx="2400300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600" dirty="0">
                <a:solidFill>
                  <a:srgbClr val="3A3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l">
              <a:lnSpc>
                <a:spcPts val="1679"/>
              </a:lnSpc>
            </a:pPr>
            <a:r>
              <a:rPr lang="en-US" sz="1600" b="0" i="0" u="none" dirty="0">
                <a:solidFill>
                  <a:srgbClr val="3A3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B Vishnu (192512410)</a:t>
            </a:r>
            <a:endParaRPr sz="1600" b="0" i="0" u="none" dirty="0">
              <a:solidFill>
                <a:srgbClr val="3A3A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BD9642-71D6-5433-E508-8CA07F07C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152400"/>
            <a:ext cx="12192001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00" y="-93613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48006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1C1C1C"/>
                </a:solidFill>
                <a:latin typeface="Playfair Display Medium"/>
              </a:rPr>
              <a:t>The Current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2076450"/>
            <a:ext cx="4286250" cy="877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A3A3A"/>
                </a:solidFill>
                <a:latin typeface="DM Sans"/>
              </a:rPr>
              <a:t>Data Silos:</a:t>
            </a:r>
            <a:r>
              <a:rPr sz="1425" b="0" i="0" u="none">
                <a:solidFill>
                  <a:srgbClr val="3A3A3A"/>
                </a:solidFill>
                <a:latin typeface="DM Sans"/>
              </a:rPr>
              <a:t> Centralized databases create severe informational bottlenecks during high-stress, rapidly unfolding events.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7737"/>
            <a:ext cx="4572000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7750" y="3335387"/>
            <a:ext cx="4286250" cy="877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A3A3A"/>
                </a:solidFill>
                <a:latin typeface="DM Sans"/>
              </a:rPr>
              <a:t>High Latency:</a:t>
            </a:r>
            <a:r>
              <a:rPr sz="1425" b="0" i="0" u="none">
                <a:solidFill>
                  <a:srgbClr val="3A3A3A"/>
                </a:solidFill>
                <a:latin typeface="DM Sans"/>
              </a:rPr>
              <a:t> Human-in-the-loop decision-making delays critical dispatch times, costing crucial minutes.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346674"/>
            <a:ext cx="4572000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7750" y="4594324"/>
            <a:ext cx="4286250" cy="877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A3A3A"/>
                </a:solidFill>
                <a:latin typeface="DM Sans"/>
              </a:rPr>
              <a:t>Static Protocols:</a:t>
            </a:r>
            <a:r>
              <a:rPr sz="1425" b="0" i="0" u="none">
                <a:solidFill>
                  <a:srgbClr val="3A3A3A"/>
                </a:solidFill>
                <a:latin typeface="DM Sans"/>
              </a:rPr>
              <a:t> Legacy response plans cannot dynamically adapt to multi-front disaster scenarios.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605611"/>
            <a:ext cx="4572000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7750" y="5853261"/>
            <a:ext cx="4286250" cy="877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A3A3A"/>
                </a:solidFill>
                <a:latin typeface="DM Sans"/>
              </a:rPr>
              <a:t>Vulnerability:</a:t>
            </a:r>
            <a:r>
              <a:rPr sz="1425" b="0" i="0" u="none">
                <a:solidFill>
                  <a:srgbClr val="3A3A3A"/>
                </a:solidFill>
                <a:latin typeface="DM Sans"/>
              </a:rPr>
              <a:t> Centralized command infrastructures are susceptible to localized physical damage.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6864548"/>
            <a:ext cx="4572000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2000" y="3087737"/>
            <a:ext cx="4572000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2000" y="4346674"/>
            <a:ext cx="4572000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2000" y="5605611"/>
            <a:ext cx="4572000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2000" y="6864548"/>
            <a:ext cx="4572000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Abstract digital network nodes connecting over a glowing dark topographical map">
            <a:extLst>
              <a:ext uri="{FF2B5EF4-FFF2-40B4-BE49-F238E27FC236}">
                <a16:creationId xmlns:a16="http://schemas.microsoft.com/office/drawing/2014/main" id="{159729F0-1F6F-9988-F6A1-7BAEE28CD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0" y="2136148"/>
            <a:ext cx="5513222" cy="39348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52625"/>
            <a:ext cx="571500" cy="57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400" y="1952625"/>
            <a:ext cx="571500" cy="571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450" y="1952625"/>
            <a:ext cx="571500" cy="57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1C1C1C"/>
                </a:solidFill>
                <a:latin typeface="Playfair Display Medium"/>
              </a:rPr>
              <a:t>Core Architecture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809875"/>
            <a:ext cx="174021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C1C1C"/>
                </a:solidFill>
                <a:latin typeface="DM Sans SemiBold"/>
              </a:rPr>
              <a:t>SENSOR AGENTS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3152775"/>
            <a:ext cx="1657350" cy="1905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1500" y="3362325"/>
            <a:ext cx="2911375" cy="1736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3A3A3A"/>
                </a:solidFill>
                <a:latin typeface="DM Sans"/>
              </a:rPr>
              <a:t>Deployed extensively at the edge. They gather real-time telemetry including seismic, thermal, and meteorological data, performing localized anomaly detection before transmission.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5400" y="2809875"/>
            <a:ext cx="191023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C1C1C"/>
                </a:solidFill>
                <a:latin typeface="DM Sans SemiBold"/>
              </a:rPr>
              <a:t>DECISION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5400" y="3152775"/>
            <a:ext cx="1819275" cy="1905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5400" y="3362325"/>
            <a:ext cx="2911524" cy="1736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3A3A3A"/>
                </a:solidFill>
                <a:latin typeface="DM Sans"/>
              </a:rPr>
              <a:t>Equipped with predictive models to analyze incoming verified data. They assess risk severity, calculate probabilities, and formulate optimal, bias-free resource allocation strategies.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9450" y="2809875"/>
            <a:ext cx="165020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C1C1C"/>
                </a:solidFill>
                <a:latin typeface="DM Sans SemiBold"/>
              </a:rPr>
              <a:t>COMM.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99450" y="3152775"/>
            <a:ext cx="1571625" cy="1905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99450" y="3362325"/>
            <a:ext cx="2920900" cy="1736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3A3A3A"/>
                </a:solidFill>
                <a:latin typeface="DM Sans"/>
              </a:rPr>
              <a:t>Acting as the connective tissue, these agents manage message queuing, ensure delivery protocols, and dynamically route critical packets around damaged physical infrastructure.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2085975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8750" y="2085975"/>
            <a:ext cx="3048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4700" y="2085975"/>
            <a:ext cx="3810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3324671"/>
            <a:ext cx="4572000" cy="277132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714500"/>
            <a:ext cx="4572000" cy="2771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1C1C1C"/>
                </a:solidFill>
                <a:latin typeface="Playfair Display Medium"/>
              </a:rPr>
              <a:t>Agent Coordination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72050" y="1914525"/>
            <a:ext cx="4476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0" i="0" u="none">
                <a:solidFill>
                  <a:srgbClr val="D1CEC5"/>
                </a:solidFill>
                <a:latin typeface="Playfair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3525" y="2200275"/>
            <a:ext cx="398049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E05A47"/>
                </a:solidFill>
                <a:latin typeface="Playfair Display SemiBold"/>
              </a:rPr>
              <a:t>Decentralized Consensus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3525" y="2647950"/>
            <a:ext cx="3790950" cy="1447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3A3A3A"/>
                </a:solidFill>
                <a:latin typeface="DM Sans"/>
              </a:rPr>
              <a:t>In highly volatile zones, agent clusters negotiate immediate resource allocation without central oversight. They utilize auction-based algorithms to rapidly prioritize tasks based on threat proximity.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8425" y="3524696"/>
            <a:ext cx="495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0" i="0" u="none">
                <a:solidFill>
                  <a:srgbClr val="D1CEC5"/>
                </a:solidFill>
                <a:latin typeface="Playfair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7525" y="3810446"/>
            <a:ext cx="398049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A5E6D"/>
                </a:solidFill>
                <a:latin typeface="Playfair Display SemiBold"/>
              </a:rPr>
              <a:t>Hierarchical Reporting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7525" y="4258121"/>
            <a:ext cx="3790950" cy="1447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3A3A3A"/>
                </a:solidFill>
                <a:latin typeface="DM Sans"/>
              </a:rPr>
              <a:t>For macro-level strategic planning, lower-level agents aggregate and summarize granular data. They pass only high-confidence state assessments upward, filtering out noise for regional responses.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1C1C1C"/>
                </a:solidFill>
                <a:latin typeface="Playfair Display Medium"/>
              </a:rPr>
              <a:t>Paradigm Shift: Legacy vs. MAS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161454"/>
              </p:ext>
            </p:extLst>
          </p:nvPr>
        </p:nvGraphicFramePr>
        <p:xfrm>
          <a:off x="1149096" y="1371599"/>
          <a:ext cx="10668000" cy="4105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42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707070"/>
                          </a:solidFill>
                          <a:latin typeface="DM Sans"/>
                        </a:rPr>
                        <a:t>System Characteristic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707070"/>
                          </a:solidFill>
                          <a:latin typeface="DM Sans"/>
                        </a:rPr>
                        <a:t>Traditional Architecture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A5E6D"/>
                          </a:solidFill>
                          <a:latin typeface="DM Sans"/>
                        </a:rPr>
                        <a:t>Multi-Agent 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212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A3A3A"/>
                          </a:solidFill>
                          <a:latin typeface="Playfair Display SemiBold"/>
                        </a:rPr>
                        <a:t>Decision Making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A3A3A"/>
                          </a:solidFill>
                          <a:latin typeface="DM Sans"/>
                        </a:rPr>
                        <a:t>Centralized Command Center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A5E6D"/>
                          </a:solidFill>
                          <a:latin typeface="DM Sans Medium"/>
                        </a:rPr>
                        <a:t>Distributed &amp; Autonomous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212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A3A3A"/>
                          </a:solidFill>
                          <a:latin typeface="Playfair Display SemiBold"/>
                        </a:rPr>
                        <a:t>Fault Tolerance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3A3A3A"/>
                          </a:solidFill>
                          <a:latin typeface="DM Sans"/>
                        </a:rPr>
                        <a:t>Low (Single point of failure)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A5E6D"/>
                          </a:solidFill>
                          <a:latin typeface="DM Sans Medium"/>
                        </a:rPr>
                        <a:t>High (Self-healing mesh)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212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A3A3A"/>
                          </a:solidFill>
                          <a:latin typeface="Playfair Display SemiBold"/>
                        </a:rPr>
                        <a:t>Scalability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A3A3A"/>
                          </a:solidFill>
                          <a:latin typeface="DM Sans"/>
                        </a:rPr>
                        <a:t>Limited by central bandwidth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A5E6D"/>
                          </a:solidFill>
                          <a:latin typeface="DM Sans Medium"/>
                        </a:rPr>
                        <a:t>Virtually Unlimited (P2P)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4212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A3A3A"/>
                          </a:solidFill>
                          <a:latin typeface="Playfair Display SemiBold"/>
                        </a:rPr>
                        <a:t>Adaptability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A3A3A"/>
                          </a:solidFill>
                          <a:latin typeface="DM Sans"/>
                        </a:rPr>
                        <a:t>Static / Pre-programmed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A5E6D"/>
                          </a:solidFill>
                          <a:latin typeface="DM Sans Medium"/>
                        </a:rPr>
                        <a:t>Dynamic / ML-driven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21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A3A3A"/>
                          </a:solidFill>
                          <a:latin typeface="Playfair Display SemiBold"/>
                        </a:rPr>
                        <a:t>Data Processing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A3A3A"/>
                          </a:solidFill>
                          <a:latin typeface="DM Sans"/>
                        </a:rPr>
                        <a:t>Post-event batch processing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3A5E6D"/>
                          </a:solidFill>
                          <a:latin typeface="DM Sans Medium"/>
                        </a:rPr>
                        <a:t>Real-time edge streaming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62000" y="1914525"/>
            <a:ext cx="3200400" cy="1905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962400" y="1914525"/>
            <a:ext cx="3733800" cy="1905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96200" y="1914525"/>
            <a:ext cx="3733800" cy="1905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2671762"/>
            <a:ext cx="3200400" cy="9525"/>
          </a:xfrm>
          <a:prstGeom prst="rect">
            <a:avLst/>
          </a:prstGeom>
          <a:solidFill>
            <a:srgbClr val="D1C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962400" y="2671762"/>
            <a:ext cx="3733800" cy="9525"/>
          </a:xfrm>
          <a:prstGeom prst="rect">
            <a:avLst/>
          </a:prstGeom>
          <a:solidFill>
            <a:srgbClr val="D1C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96200" y="2671762"/>
            <a:ext cx="3733800" cy="9525"/>
          </a:xfrm>
          <a:prstGeom prst="rect">
            <a:avLst/>
          </a:prstGeom>
          <a:solidFill>
            <a:srgbClr val="D1C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2000" y="3414712"/>
            <a:ext cx="3200400" cy="9525"/>
          </a:xfrm>
          <a:prstGeom prst="rect">
            <a:avLst/>
          </a:prstGeom>
          <a:solidFill>
            <a:srgbClr val="D1C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962400" y="3414712"/>
            <a:ext cx="3733800" cy="9525"/>
          </a:xfrm>
          <a:prstGeom prst="rect">
            <a:avLst/>
          </a:prstGeom>
          <a:solidFill>
            <a:srgbClr val="D1C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96200" y="3414712"/>
            <a:ext cx="3733800" cy="9525"/>
          </a:xfrm>
          <a:prstGeom prst="rect">
            <a:avLst/>
          </a:prstGeom>
          <a:solidFill>
            <a:srgbClr val="D1C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2000" y="4157662"/>
            <a:ext cx="3200400" cy="9525"/>
          </a:xfrm>
          <a:prstGeom prst="rect">
            <a:avLst/>
          </a:prstGeom>
          <a:solidFill>
            <a:srgbClr val="D1C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962400" y="4157662"/>
            <a:ext cx="3733800" cy="9525"/>
          </a:xfrm>
          <a:prstGeom prst="rect">
            <a:avLst/>
          </a:prstGeom>
          <a:solidFill>
            <a:srgbClr val="D1C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96200" y="4157662"/>
            <a:ext cx="3733800" cy="9525"/>
          </a:xfrm>
          <a:prstGeom prst="rect">
            <a:avLst/>
          </a:prstGeom>
          <a:solidFill>
            <a:srgbClr val="D1C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2000" y="4900612"/>
            <a:ext cx="3200400" cy="9525"/>
          </a:xfrm>
          <a:prstGeom prst="rect">
            <a:avLst/>
          </a:prstGeom>
          <a:solidFill>
            <a:srgbClr val="D1C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962400" y="4900612"/>
            <a:ext cx="3733800" cy="9525"/>
          </a:xfrm>
          <a:prstGeom prst="rect">
            <a:avLst/>
          </a:prstGeom>
          <a:solidFill>
            <a:srgbClr val="D1C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96200" y="4900612"/>
            <a:ext cx="3733800" cy="9525"/>
          </a:xfrm>
          <a:prstGeom prst="rect">
            <a:avLst/>
          </a:prstGeom>
          <a:solidFill>
            <a:srgbClr val="D1C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62000" y="5638800"/>
            <a:ext cx="3200400" cy="1905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962400" y="5638800"/>
            <a:ext cx="3733800" cy="1905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96200" y="5638800"/>
            <a:ext cx="3733800" cy="1905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308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Aptos</vt:lpstr>
      <vt:lpstr>Aptos Display</vt:lpstr>
      <vt:lpstr>Arial</vt:lpstr>
      <vt:lpstr>DM Sans</vt:lpstr>
      <vt:lpstr>DM Sans Medium</vt:lpstr>
      <vt:lpstr>DM Sans SemiBold</vt:lpstr>
      <vt:lpstr>Playfair Display</vt:lpstr>
      <vt:lpstr>Playfair Display Medium</vt:lpstr>
      <vt:lpstr>Playfair Display SemiBold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KAILASH</dc:creator>
  <cp:keywords/>
  <dc:description>generated using python-pptx</dc:description>
  <cp:lastModifiedBy>kailashpawar8949@gmail.com</cp:lastModifiedBy>
  <cp:revision>2</cp:revision>
  <dcterms:created xsi:type="dcterms:W3CDTF">2013-01-27T09:14:16Z</dcterms:created>
  <dcterms:modified xsi:type="dcterms:W3CDTF">2026-09-01T03:30:24Z</dcterms:modified>
  <cp:category/>
</cp:coreProperties>
</file>