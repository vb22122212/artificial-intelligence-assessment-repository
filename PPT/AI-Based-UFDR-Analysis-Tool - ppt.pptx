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Default Extension="svg" ContentType="image/svg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61" d="100"/>
          <a:sy n="61" d="100"/>
        </p:scale>
        <p:origin x="485" y="43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515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1334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01983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7685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25156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00764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6885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85930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61957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9437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32277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33095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47192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42789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05229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E392D4-D88A-EC2B-1C19-2185AEE523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5BC9D1-CB02-4580-F6A8-852AD04AE5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63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0760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54869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6632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2332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82276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9834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71756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50154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5808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53113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60602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9590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0510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72775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master 1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852273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578718405" name="Shap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32598139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media1.svg"/><Relationship Id="rId5" Type="http://schemas.openxmlformats.org/officeDocument/2006/relationships/image" Target="../media/image5.png"/><Relationship Id="rId6" Type="http://schemas.openxmlformats.org/officeDocument/2006/relationships/image" Target="../media/media2.svg"/><Relationship Id="rId7" Type="http://schemas.openxmlformats.org/officeDocument/2006/relationships/image" Target="../media/image6.png"/><Relationship Id="rId8" Type="http://schemas.openxmlformats.org/officeDocument/2006/relationships/image" Target="../media/media3.svg"/><Relationship Id="rId9" Type="http://schemas.openxmlformats.org/officeDocument/2006/relationships/image" Target="../media/image7.png"/><Relationship Id="rId10" Type="http://schemas.openxmlformats.org/officeDocument/2006/relationships/image" Target="../media/media4.svg"/><Relationship Id="rId11" Type="http://schemas.openxmlformats.org/officeDocument/2006/relationships/image" Target="../media/image8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media5.svg"/><Relationship Id="rId6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media6.svg"/><Relationship Id="rId5" Type="http://schemas.openxmlformats.org/officeDocument/2006/relationships/image" Target="../media/image12.png"/><Relationship Id="rId6" Type="http://schemas.openxmlformats.org/officeDocument/2006/relationships/image" Target="../media/media7.svg"/><Relationship Id="rId7" Type="http://schemas.openxmlformats.org/officeDocument/2006/relationships/image" Target="../media/image8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media8.svg"/><Relationship Id="rId5" Type="http://schemas.openxmlformats.org/officeDocument/2006/relationships/image" Target="../media/image14.png"/><Relationship Id="rId6" Type="http://schemas.openxmlformats.org/officeDocument/2006/relationships/image" Target="../media/media9.svg"/><Relationship Id="rId7" Type="http://schemas.openxmlformats.org/officeDocument/2006/relationships/image" Target="../media/image15.png"/><Relationship Id="rId8" Type="http://schemas.openxmlformats.org/officeDocument/2006/relationships/image" Target="../media/media10.svg"/><Relationship Id="rId9" Type="http://schemas.openxmlformats.org/officeDocument/2006/relationships/image" Target="../media/image16.png"/><Relationship Id="rId10" Type="http://schemas.openxmlformats.org/officeDocument/2006/relationships/image" Target="../media/media11.svg"/><Relationship Id="rId11" Type="http://schemas.openxmlformats.org/officeDocument/2006/relationships/image" Target="../media/image17.png"/><Relationship Id="rId12" Type="http://schemas.openxmlformats.org/officeDocument/2006/relationships/image" Target="../media/media12.svg"/><Relationship Id="rId13" Type="http://schemas.openxmlformats.org/officeDocument/2006/relationships/image" Target="../media/image18.png"/><Relationship Id="rId14" Type="http://schemas.openxmlformats.org/officeDocument/2006/relationships/image" Target="../media/media13.svg"/><Relationship Id="rId15" Type="http://schemas.openxmlformats.org/officeDocument/2006/relationships/image" Target="../media/image19.png"/><Relationship Id="rId16" Type="http://schemas.openxmlformats.org/officeDocument/2006/relationships/image" Target="../media/media14.svg"/><Relationship Id="rId17" Type="http://schemas.openxmlformats.org/officeDocument/2006/relationships/image" Target="../media/image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media15.svg"/><Relationship Id="rId6" Type="http://schemas.openxmlformats.org/officeDocument/2006/relationships/image" Target="../media/image8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1707036" name="Shape 0"/>
          <p:cNvSpPr/>
          <p:nvPr/>
        </p:nvSpPr>
        <p:spPr bwMode="auto">
          <a:xfrm>
            <a:off x="7619809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208565307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722597" y="154186"/>
            <a:ext cx="4366310" cy="6549628"/>
          </a:xfrm>
          <a:prstGeom prst="rect">
            <a:avLst/>
          </a:prstGeom>
        </p:spPr>
      </p:pic>
      <p:sp>
        <p:nvSpPr>
          <p:cNvPr id="901940168" name="Text 1"/>
          <p:cNvSpPr/>
          <p:nvPr/>
        </p:nvSpPr>
        <p:spPr bwMode="auto">
          <a:xfrm>
            <a:off x="719814" y="2264172"/>
            <a:ext cx="6180181" cy="1168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65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AI-Based UFDR Analysis Tool</a:t>
            </a:r>
            <a:endParaRPr lang="en-US" sz="3650"/>
          </a:p>
        </p:txBody>
      </p:sp>
      <p:sp>
        <p:nvSpPr>
          <p:cNvPr id="1826397185" name="Text 2"/>
          <p:cNvSpPr/>
          <p:nvPr/>
        </p:nvSpPr>
        <p:spPr bwMode="auto">
          <a:xfrm>
            <a:off x="719814" y="3741440"/>
            <a:ext cx="6789765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Universal Forensic Extraction Device Report Analysis Platform</a:t>
            </a:r>
            <a:endParaRPr lang="en-US" sz="1600"/>
          </a:p>
        </p:txBody>
      </p:sp>
      <p:sp>
        <p:nvSpPr>
          <p:cNvPr id="1302214808" name="Text 2"/>
          <p:cNvSpPr/>
          <p:nvPr/>
        </p:nvSpPr>
        <p:spPr bwMode="auto">
          <a:xfrm>
            <a:off x="655645" y="5393777"/>
            <a:ext cx="2015366" cy="806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ROHIT L     -  192511236</a:t>
            </a:r>
            <a:b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</a:b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VISHNU B  - 192512410</a:t>
            </a:r>
            <a:endParaRPr lang="en-US" sz="1600"/>
          </a:p>
        </p:txBody>
      </p:sp>
      <p:sp>
        <p:nvSpPr>
          <p:cNvPr id="1622362478" name="Text 2"/>
          <p:cNvSpPr/>
          <p:nvPr/>
        </p:nvSpPr>
        <p:spPr bwMode="auto">
          <a:xfrm>
            <a:off x="5279454" y="5314401"/>
            <a:ext cx="2015366" cy="806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FACULTY  INCHARGE</a:t>
            </a:r>
            <a:b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</a:b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Dr. VEERAMANI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725042" name="Shape 0"/>
          <p:cNvSpPr/>
          <p:nvPr/>
        </p:nvSpPr>
        <p:spPr bwMode="auto">
          <a:xfrm>
            <a:off x="7619809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2150951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722597" y="154186"/>
            <a:ext cx="4366310" cy="6549628"/>
          </a:xfrm>
          <a:prstGeom prst="rect">
            <a:avLst/>
          </a:prstGeom>
        </p:spPr>
      </p:pic>
      <p:sp>
        <p:nvSpPr>
          <p:cNvPr id="791883732" name="Text 1"/>
          <p:cNvSpPr/>
          <p:nvPr/>
        </p:nvSpPr>
        <p:spPr bwMode="auto">
          <a:xfrm>
            <a:off x="719814" y="973138"/>
            <a:ext cx="6180181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65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The Problem</a:t>
            </a:r>
            <a:endParaRPr lang="en-US" sz="3650"/>
          </a:p>
        </p:txBody>
      </p:sp>
      <p:sp>
        <p:nvSpPr>
          <p:cNvPr id="597895693" name="Shape 2"/>
          <p:cNvSpPr/>
          <p:nvPr/>
        </p:nvSpPr>
        <p:spPr bwMode="auto">
          <a:xfrm>
            <a:off x="719814" y="1866007"/>
            <a:ext cx="2987203" cy="2369245"/>
          </a:xfrm>
          <a:prstGeom prst="roundRect">
            <a:avLst>
              <a:gd name="adj" fmla="val 1302"/>
            </a:avLst>
          </a:prstGeom>
          <a:solidFill>
            <a:srgbClr val="F2EEEE"/>
          </a:solidFill>
          <a:ln/>
        </p:spPr>
      </p:sp>
      <p:sp>
        <p:nvSpPr>
          <p:cNvPr id="239449468" name="Text 3"/>
          <p:cNvSpPr/>
          <p:nvPr/>
        </p:nvSpPr>
        <p:spPr bwMode="auto">
          <a:xfrm>
            <a:off x="925489" y="2071687"/>
            <a:ext cx="2575853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</a:rPr>
              <a:t>Data Overload</a:t>
            </a:r>
            <a:endParaRPr lang="en-US" sz="1800"/>
          </a:p>
        </p:txBody>
      </p:sp>
      <p:sp>
        <p:nvSpPr>
          <p:cNvPr id="1924531161" name="Text 4"/>
          <p:cNvSpPr/>
          <p:nvPr/>
        </p:nvSpPr>
        <p:spPr bwMode="auto">
          <a:xfrm>
            <a:off x="925489" y="2487216"/>
            <a:ext cx="2575853" cy="1542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Digital investigations generate massive forensic reports that are slow and time-consuming to analyze manually.</a:t>
            </a:r>
            <a:endParaRPr lang="en-US" sz="1600"/>
          </a:p>
        </p:txBody>
      </p:sp>
      <p:sp>
        <p:nvSpPr>
          <p:cNvPr id="73952507" name="Shape 5"/>
          <p:cNvSpPr/>
          <p:nvPr/>
        </p:nvSpPr>
        <p:spPr bwMode="auto">
          <a:xfrm>
            <a:off x="3912693" y="1866007"/>
            <a:ext cx="2987303" cy="2369245"/>
          </a:xfrm>
          <a:prstGeom prst="roundRect">
            <a:avLst>
              <a:gd name="adj" fmla="val 1302"/>
            </a:avLst>
          </a:prstGeom>
          <a:solidFill>
            <a:srgbClr val="F2EEEE"/>
          </a:solidFill>
          <a:ln/>
        </p:spPr>
      </p:sp>
      <p:sp>
        <p:nvSpPr>
          <p:cNvPr id="2124629189" name="Text 6"/>
          <p:cNvSpPr/>
          <p:nvPr/>
        </p:nvSpPr>
        <p:spPr bwMode="auto">
          <a:xfrm>
            <a:off x="4118368" y="2071687"/>
            <a:ext cx="2575952" cy="5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</a:rPr>
              <a:t>Fragmented Evidence</a:t>
            </a:r>
            <a:endParaRPr lang="en-US" sz="1800"/>
          </a:p>
        </p:txBody>
      </p:sp>
      <p:sp>
        <p:nvSpPr>
          <p:cNvPr id="1730896751" name="Text 7"/>
          <p:cNvSpPr/>
          <p:nvPr/>
        </p:nvSpPr>
        <p:spPr bwMode="auto">
          <a:xfrm>
            <a:off x="4118368" y="2779415"/>
            <a:ext cx="2575952" cy="925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Investigators must examine chats, calls, images, GPS data, and documents separately.</a:t>
            </a:r>
            <a:endParaRPr lang="en-US" sz="1600"/>
          </a:p>
        </p:txBody>
      </p:sp>
      <p:sp>
        <p:nvSpPr>
          <p:cNvPr id="988459159" name="Shape 8"/>
          <p:cNvSpPr/>
          <p:nvPr/>
        </p:nvSpPr>
        <p:spPr bwMode="auto">
          <a:xfrm>
            <a:off x="719814" y="4440932"/>
            <a:ext cx="6180181" cy="1443831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/>
        </p:spPr>
      </p:sp>
      <p:sp>
        <p:nvSpPr>
          <p:cNvPr id="1113845967" name="Text 9"/>
          <p:cNvSpPr/>
          <p:nvPr/>
        </p:nvSpPr>
        <p:spPr bwMode="auto">
          <a:xfrm>
            <a:off x="925489" y="4646613"/>
            <a:ext cx="5768831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</a:rPr>
              <a:t>Missed Evidence</a:t>
            </a:r>
            <a:endParaRPr lang="en-US" sz="1800"/>
          </a:p>
        </p:txBody>
      </p:sp>
      <p:sp>
        <p:nvSpPr>
          <p:cNvPr id="120050724" name="Text 10"/>
          <p:cNvSpPr/>
          <p:nvPr/>
        </p:nvSpPr>
        <p:spPr bwMode="auto">
          <a:xfrm>
            <a:off x="925489" y="5062141"/>
            <a:ext cx="5768831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Important evidence can be overlooked due to the sheer volume of data.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266042" name="Text 0"/>
          <p:cNvSpPr/>
          <p:nvPr/>
        </p:nvSpPr>
        <p:spPr bwMode="auto">
          <a:xfrm>
            <a:off x="719814" y="1422995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65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Our Objective</a:t>
            </a:r>
            <a:endParaRPr lang="en-US" sz="3650"/>
          </a:p>
        </p:txBody>
      </p:sp>
      <p:sp>
        <p:nvSpPr>
          <p:cNvPr id="581234393" name="Text 1"/>
          <p:cNvSpPr/>
          <p:nvPr/>
        </p:nvSpPr>
        <p:spPr bwMode="auto">
          <a:xfrm>
            <a:off x="719814" y="2418755"/>
            <a:ext cx="11361652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Develop an intelligent forensic investigation platform that assists investigators by:</a:t>
            </a:r>
            <a:endParaRPr lang="en-US" sz="1600"/>
          </a:p>
        </p:txBody>
      </p:sp>
      <p:pic>
        <p:nvPicPr>
          <p:cNvPr id="1943674357" name="Image 0" descr="preencoded.png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719814" y="2958604"/>
            <a:ext cx="514139" cy="514152"/>
          </a:xfrm>
          <a:prstGeom prst="rect">
            <a:avLst/>
          </a:prstGeom>
        </p:spPr>
      </p:pic>
      <p:sp>
        <p:nvSpPr>
          <p:cNvPr id="1726498684" name="Text 2"/>
          <p:cNvSpPr/>
          <p:nvPr/>
        </p:nvSpPr>
        <p:spPr bwMode="auto">
          <a:xfrm>
            <a:off x="1491022" y="2958604"/>
            <a:ext cx="4476241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</a:rPr>
              <a:t>Organize Evidence</a:t>
            </a:r>
            <a:endParaRPr lang="en-US" sz="1800"/>
          </a:p>
        </p:txBody>
      </p:sp>
      <p:sp>
        <p:nvSpPr>
          <p:cNvPr id="1085102758" name="Text 3"/>
          <p:cNvSpPr/>
          <p:nvPr/>
        </p:nvSpPr>
        <p:spPr bwMode="auto">
          <a:xfrm>
            <a:off x="1491022" y="3374132"/>
            <a:ext cx="4476241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Automatically structure extracted digital evidence for easy access.</a:t>
            </a:r>
            <a:endParaRPr lang="en-US" sz="1600"/>
          </a:p>
        </p:txBody>
      </p:sp>
      <p:pic>
        <p:nvPicPr>
          <p:cNvPr id="642563878" name="Image 1" descr="preencoded.png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6224333" y="2958604"/>
            <a:ext cx="514139" cy="514152"/>
          </a:xfrm>
          <a:prstGeom prst="rect">
            <a:avLst/>
          </a:prstGeom>
        </p:spPr>
      </p:pic>
      <p:sp>
        <p:nvSpPr>
          <p:cNvPr id="653302318" name="Text 4"/>
          <p:cNvSpPr/>
          <p:nvPr/>
        </p:nvSpPr>
        <p:spPr bwMode="auto">
          <a:xfrm>
            <a:off x="6995541" y="2958604"/>
            <a:ext cx="4476340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</a:rPr>
              <a:t>Identify Relationships</a:t>
            </a:r>
            <a:endParaRPr lang="en-US" sz="1800"/>
          </a:p>
        </p:txBody>
      </p:sp>
      <p:sp>
        <p:nvSpPr>
          <p:cNvPr id="2016780846" name="Text 5"/>
          <p:cNvSpPr/>
          <p:nvPr/>
        </p:nvSpPr>
        <p:spPr bwMode="auto">
          <a:xfrm>
            <a:off x="6995541" y="3374132"/>
            <a:ext cx="4476340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Map connections between contacts, calls, and communications.</a:t>
            </a:r>
            <a:endParaRPr lang="en-US" sz="1600"/>
          </a:p>
        </p:txBody>
      </p:sp>
      <p:pic>
        <p:nvPicPr>
          <p:cNvPr id="2068890830" name="Image 2" descr="preencoded.png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>
            <a:off x="719814" y="4402435"/>
            <a:ext cx="514139" cy="514152"/>
          </a:xfrm>
          <a:prstGeom prst="rect">
            <a:avLst/>
          </a:prstGeom>
        </p:spPr>
      </p:pic>
      <p:sp>
        <p:nvSpPr>
          <p:cNvPr id="1519048058" name="Text 6"/>
          <p:cNvSpPr/>
          <p:nvPr/>
        </p:nvSpPr>
        <p:spPr bwMode="auto">
          <a:xfrm>
            <a:off x="1491022" y="4402435"/>
            <a:ext cx="4476241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</a:rPr>
              <a:t>Reconstruct Timelines</a:t>
            </a:r>
            <a:endParaRPr lang="en-US" sz="1800"/>
          </a:p>
        </p:txBody>
      </p:sp>
      <p:sp>
        <p:nvSpPr>
          <p:cNvPr id="1032807576" name="Text 7"/>
          <p:cNvSpPr/>
          <p:nvPr/>
        </p:nvSpPr>
        <p:spPr bwMode="auto">
          <a:xfrm>
            <a:off x="1491022" y="4817963"/>
            <a:ext cx="4476241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Build chronological event sequences from raw forensic data.</a:t>
            </a:r>
            <a:endParaRPr lang="en-US" sz="1600"/>
          </a:p>
        </p:txBody>
      </p:sp>
      <p:pic>
        <p:nvPicPr>
          <p:cNvPr id="2079818591" name="Image 3" descr="preencoded.png"/>
          <p:cNvPicPr>
            <a:picLocks noChangeAspect="1"/>
          </p:cNvPicPr>
          <p:nvPr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>
            <a:off x="6224333" y="4402435"/>
            <a:ext cx="514139" cy="514152"/>
          </a:xfrm>
          <a:prstGeom prst="rect">
            <a:avLst/>
          </a:prstGeom>
        </p:spPr>
      </p:pic>
      <p:sp>
        <p:nvSpPr>
          <p:cNvPr id="283713422" name="Text 8"/>
          <p:cNvSpPr/>
          <p:nvPr/>
        </p:nvSpPr>
        <p:spPr bwMode="auto">
          <a:xfrm>
            <a:off x="6995541" y="4402435"/>
            <a:ext cx="4476340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</a:rPr>
              <a:t>Flag Suspicious Activity</a:t>
            </a:r>
            <a:endParaRPr lang="en-US" sz="1800"/>
          </a:p>
        </p:txBody>
      </p:sp>
      <p:sp>
        <p:nvSpPr>
          <p:cNvPr id="709263844" name="Text 9"/>
          <p:cNvSpPr/>
          <p:nvPr/>
        </p:nvSpPr>
        <p:spPr bwMode="auto">
          <a:xfrm>
            <a:off x="6995541" y="4817963"/>
            <a:ext cx="4476340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Highlight anomalies and generate investigation summaries.</a:t>
            </a:r>
            <a:endParaRPr lang="en-US" sz="1600"/>
          </a:p>
        </p:txBody>
      </p:sp>
      <p:pic>
        <p:nvPicPr>
          <p:cNvPr id="171538689" name="Picture 16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10081077" y="6400760"/>
            <a:ext cx="2110923" cy="457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547977" name="Shape 0"/>
          <p:cNvSpPr/>
          <p:nvPr/>
        </p:nvSpPr>
        <p:spPr bwMode="auto">
          <a:xfrm>
            <a:off x="0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1521727695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2788" y="154186"/>
            <a:ext cx="4366310" cy="6549628"/>
          </a:xfrm>
          <a:prstGeom prst="rect">
            <a:avLst/>
          </a:prstGeom>
        </p:spPr>
      </p:pic>
      <p:sp>
        <p:nvSpPr>
          <p:cNvPr id="240751109" name="Text 1"/>
          <p:cNvSpPr/>
          <p:nvPr/>
        </p:nvSpPr>
        <p:spPr bwMode="auto">
          <a:xfrm>
            <a:off x="5291700" y="763290"/>
            <a:ext cx="6180181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65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Proposed Solution</a:t>
            </a:r>
            <a:endParaRPr lang="en-US" sz="3650"/>
          </a:p>
        </p:txBody>
      </p:sp>
      <p:pic>
        <p:nvPicPr>
          <p:cNvPr id="1004268112" name="Image 1" descr="preencoded.png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5368791" y="1662509"/>
            <a:ext cx="308463" cy="308471"/>
          </a:xfrm>
          <a:prstGeom prst="rect">
            <a:avLst/>
          </a:prstGeom>
        </p:spPr>
      </p:pic>
      <p:sp>
        <p:nvSpPr>
          <p:cNvPr id="1835954991" name="Text 2"/>
          <p:cNvSpPr/>
          <p:nvPr/>
        </p:nvSpPr>
        <p:spPr bwMode="auto">
          <a:xfrm>
            <a:off x="5960120" y="1656159"/>
            <a:ext cx="5511761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</a:rPr>
              <a:t>Upload UFDR Reports</a:t>
            </a:r>
            <a:endParaRPr lang="en-US" sz="1800"/>
          </a:p>
        </p:txBody>
      </p:sp>
      <p:sp>
        <p:nvSpPr>
          <p:cNvPr id="1435045154" name="Text 3"/>
          <p:cNvSpPr/>
          <p:nvPr/>
        </p:nvSpPr>
        <p:spPr bwMode="auto">
          <a:xfrm>
            <a:off x="5960120" y="2071687"/>
            <a:ext cx="5511761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Import forensic data in a single step.</a:t>
            </a:r>
            <a:endParaRPr lang="en-US" sz="1600"/>
          </a:p>
        </p:txBody>
      </p:sp>
      <p:pic>
        <p:nvPicPr>
          <p:cNvPr id="310176015" name="Image 2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368791" y="2797870"/>
            <a:ext cx="308463" cy="308471"/>
          </a:xfrm>
          <a:prstGeom prst="rect">
            <a:avLst/>
          </a:prstGeom>
        </p:spPr>
      </p:pic>
      <p:sp>
        <p:nvSpPr>
          <p:cNvPr id="1854887291" name="Text 4"/>
          <p:cNvSpPr/>
          <p:nvPr/>
        </p:nvSpPr>
        <p:spPr bwMode="auto">
          <a:xfrm>
            <a:off x="5960120" y="2791520"/>
            <a:ext cx="5511761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</a:rPr>
              <a:t>Auto-Organize Evidence</a:t>
            </a:r>
            <a:endParaRPr lang="en-US" sz="1800"/>
          </a:p>
        </p:txBody>
      </p:sp>
      <p:sp>
        <p:nvSpPr>
          <p:cNvPr id="1016719415" name="Text 5"/>
          <p:cNvSpPr/>
          <p:nvPr/>
        </p:nvSpPr>
        <p:spPr bwMode="auto">
          <a:xfrm>
            <a:off x="5960120" y="3207048"/>
            <a:ext cx="5511761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Classify messages, calls, images, GPS, and documents automatically.</a:t>
            </a:r>
            <a:endParaRPr lang="en-US" sz="1600"/>
          </a:p>
        </p:txBody>
      </p:sp>
      <p:pic>
        <p:nvPicPr>
          <p:cNvPr id="1604112007" name="Image 3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368791" y="4241701"/>
            <a:ext cx="308463" cy="308471"/>
          </a:xfrm>
          <a:prstGeom prst="rect">
            <a:avLst/>
          </a:prstGeom>
        </p:spPr>
      </p:pic>
      <p:sp>
        <p:nvSpPr>
          <p:cNvPr id="1042779278" name="Text 6"/>
          <p:cNvSpPr/>
          <p:nvPr/>
        </p:nvSpPr>
        <p:spPr bwMode="auto">
          <a:xfrm>
            <a:off x="5960120" y="4235351"/>
            <a:ext cx="5511761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</a:rPr>
              <a:t>Search &amp; Visualize</a:t>
            </a:r>
            <a:endParaRPr lang="en-US" sz="1800"/>
          </a:p>
        </p:txBody>
      </p:sp>
      <p:sp>
        <p:nvSpPr>
          <p:cNvPr id="1018066872" name="Text 7"/>
          <p:cNvSpPr/>
          <p:nvPr/>
        </p:nvSpPr>
        <p:spPr bwMode="auto">
          <a:xfrm>
            <a:off x="5960120" y="4650879"/>
            <a:ext cx="5511761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Cross-reference all evidence sources and visualize relationships.</a:t>
            </a:r>
            <a:endParaRPr lang="en-US" sz="1600"/>
          </a:p>
        </p:txBody>
      </p:sp>
      <p:pic>
        <p:nvPicPr>
          <p:cNvPr id="1645653284" name="Image 4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368791" y="5377061"/>
            <a:ext cx="308463" cy="308471"/>
          </a:xfrm>
          <a:prstGeom prst="rect">
            <a:avLst/>
          </a:prstGeom>
        </p:spPr>
      </p:pic>
      <p:sp>
        <p:nvSpPr>
          <p:cNvPr id="1344332489" name="Text 8"/>
          <p:cNvSpPr/>
          <p:nvPr/>
        </p:nvSpPr>
        <p:spPr bwMode="auto">
          <a:xfrm>
            <a:off x="5960120" y="5370711"/>
            <a:ext cx="5511761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</a:rPr>
              <a:t>Generate Reports</a:t>
            </a:r>
            <a:endParaRPr lang="en-US" sz="1800"/>
          </a:p>
        </p:txBody>
      </p:sp>
      <p:sp>
        <p:nvSpPr>
          <p:cNvPr id="1438645082" name="Text 9"/>
          <p:cNvSpPr/>
          <p:nvPr/>
        </p:nvSpPr>
        <p:spPr bwMode="auto">
          <a:xfrm>
            <a:off x="5960120" y="5786239"/>
            <a:ext cx="5511761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Produce structured investigation summaries instantly.</a:t>
            </a:r>
            <a:endParaRPr lang="en-US" sz="1600"/>
          </a:p>
        </p:txBody>
      </p:sp>
      <p:pic>
        <p:nvPicPr>
          <p:cNvPr id="148391078" name="Picture 17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0081077" y="6400760"/>
            <a:ext cx="2110923" cy="457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1051764" name="Text 0"/>
          <p:cNvSpPr/>
          <p:nvPr/>
        </p:nvSpPr>
        <p:spPr bwMode="auto">
          <a:xfrm>
            <a:off x="719814" y="624284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65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Technology Stack</a:t>
            </a:r>
            <a:endParaRPr lang="en-US" sz="3650"/>
          </a:p>
        </p:txBody>
      </p:sp>
      <p:sp>
        <p:nvSpPr>
          <p:cNvPr id="398376668" name="Text 1"/>
          <p:cNvSpPr/>
          <p:nvPr/>
        </p:nvSpPr>
        <p:spPr bwMode="auto">
          <a:xfrm>
            <a:off x="818589" y="1444985"/>
            <a:ext cx="5125115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Why This Stack?</a:t>
            </a:r>
            <a:endParaRPr lang="en-US" sz="1800"/>
          </a:p>
        </p:txBody>
      </p:sp>
      <p:sp>
        <p:nvSpPr>
          <p:cNvPr id="482670421" name="Text 2"/>
          <p:cNvSpPr/>
          <p:nvPr/>
        </p:nvSpPr>
        <p:spPr bwMode="auto">
          <a:xfrm>
            <a:off x="818589" y="1973487"/>
            <a:ext cx="5125115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Each technology was chosen for speed, scalability, and forensic data handling.</a:t>
            </a:r>
            <a:endParaRPr lang="en-US" sz="1600"/>
          </a:p>
        </p:txBody>
      </p:sp>
      <p:grpSp>
        <p:nvGrpSpPr>
          <p:cNvPr id="247533065" name="Group 16"/>
          <p:cNvGrpSpPr/>
          <p:nvPr/>
        </p:nvGrpSpPr>
        <p:grpSpPr bwMode="auto">
          <a:xfrm>
            <a:off x="818589" y="2975967"/>
            <a:ext cx="4018106" cy="1766292"/>
            <a:chOff x="6327716" y="3043634"/>
            <a:chExt cx="4018106" cy="1766292"/>
          </a:xfrm>
        </p:grpSpPr>
        <p:pic>
          <p:nvPicPr>
            <p:cNvPr id="6" name="Image 1" descr="preencoded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/>
          </p:blipFill>
          <p:spPr bwMode="auto">
            <a:xfrm>
              <a:off x="6327716" y="3043634"/>
              <a:ext cx="2459373" cy="1766292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 bwMode="auto">
            <a:xfrm>
              <a:off x="6609589" y="3069034"/>
              <a:ext cx="3736233" cy="5843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04000"/>
                </a:lnSpc>
                <a:buNone/>
                <a:defRPr/>
              </a:pPr>
              <a:r>
                <a:rPr lang="en-US" sz="1800" b="1">
                  <a:solidFill>
                    <a:srgbClr val="3D3838"/>
                  </a:solidFill>
                  <a:latin typeface="Montserrat Bold"/>
                  <a:ea typeface="Montserrat Bold"/>
                  <a:cs typeface="Montserrat Bold"/>
                </a:rPr>
                <a:t>React + Tailwind CSS</a:t>
              </a:r>
              <a:endParaRPr lang="en-US" sz="1800"/>
            </a:p>
          </p:txBody>
        </p:sp>
        <p:sp>
          <p:nvSpPr>
            <p:cNvPr id="8" name="Text 4"/>
            <p:cNvSpPr/>
            <p:nvPr/>
          </p:nvSpPr>
          <p:spPr bwMode="auto">
            <a:xfrm>
              <a:off x="6609589" y="3859113"/>
              <a:ext cx="3664043" cy="6169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25000"/>
                </a:lnSpc>
                <a:buNone/>
                <a:defRPr/>
              </a:pPr>
              <a:r>
                <a:rPr lang="en-US" sz="1600">
                  <a:solidFill>
                    <a:srgbClr val="3D3838"/>
                  </a:solidFill>
                  <a:latin typeface="Source Sans 3"/>
                  <a:ea typeface="Source Sans 3"/>
                  <a:cs typeface="Source Sans 3"/>
                </a:rPr>
                <a:t>Responsive, modern UI for investigators.</a:t>
              </a:r>
              <a:endParaRPr lang="en-US" sz="1600"/>
            </a:p>
          </p:txBody>
        </p:sp>
      </p:grpSp>
      <p:pic>
        <p:nvPicPr>
          <p:cNvPr id="1260594665" name="Image 2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050816" y="2863132"/>
            <a:ext cx="2459472" cy="1766292"/>
          </a:xfrm>
          <a:prstGeom prst="rect">
            <a:avLst/>
          </a:prstGeom>
        </p:spPr>
      </p:pic>
      <p:grpSp>
        <p:nvGrpSpPr>
          <p:cNvPr id="1989059242" name="Group 19"/>
          <p:cNvGrpSpPr/>
          <p:nvPr/>
        </p:nvGrpSpPr>
        <p:grpSpPr bwMode="auto">
          <a:xfrm>
            <a:off x="6260653" y="3075437"/>
            <a:ext cx="5024968" cy="1715492"/>
            <a:chOff x="9300632" y="3069034"/>
            <a:chExt cx="5024968" cy="1715492"/>
          </a:xfrm>
        </p:grpSpPr>
        <p:sp>
          <p:nvSpPr>
            <p:cNvPr id="10" name="Text 5"/>
            <p:cNvSpPr/>
            <p:nvPr/>
          </p:nvSpPr>
          <p:spPr bwMode="auto">
            <a:xfrm>
              <a:off x="9300632" y="3069034"/>
              <a:ext cx="2995642" cy="5843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04000"/>
                </a:lnSpc>
                <a:buNone/>
                <a:defRPr/>
              </a:pPr>
              <a:r>
                <a:rPr lang="en-US" sz="1800" b="1">
                  <a:solidFill>
                    <a:srgbClr val="3D3838"/>
                  </a:solidFill>
                  <a:latin typeface="Montserrat Bold"/>
                  <a:ea typeface="Montserrat Bold"/>
                  <a:cs typeface="Montserrat Bold"/>
                </a:rPr>
                <a:t>FastAPI + PostgreSQL</a:t>
              </a:r>
              <a:endParaRPr lang="en-US" sz="1800"/>
            </a:p>
          </p:txBody>
        </p:sp>
        <p:sp>
          <p:nvSpPr>
            <p:cNvPr id="11" name="Text 6"/>
            <p:cNvSpPr/>
            <p:nvPr/>
          </p:nvSpPr>
          <p:spPr bwMode="auto">
            <a:xfrm>
              <a:off x="9300632" y="3859113"/>
              <a:ext cx="5024968" cy="9254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25000"/>
                </a:lnSpc>
                <a:buNone/>
                <a:defRPr/>
              </a:pPr>
              <a:r>
                <a:rPr lang="en-US" sz="1600">
                  <a:solidFill>
                    <a:srgbClr val="3D3838"/>
                  </a:solidFill>
                  <a:latin typeface="Source Sans 3"/>
                  <a:ea typeface="Source Sans 3"/>
                  <a:cs typeface="Source Sans 3"/>
                </a:rPr>
                <a:t>High-performance backend with robust data storage.</a:t>
              </a:r>
              <a:endParaRPr lang="en-US" sz="1600"/>
            </a:p>
          </p:txBody>
        </p:sp>
      </p:grpSp>
      <p:pic>
        <p:nvPicPr>
          <p:cNvPr id="971347999" name="Image 3" descr="preencoded.png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2317189" y="5150680"/>
            <a:ext cx="5150515" cy="857151"/>
          </a:xfrm>
          <a:prstGeom prst="rect">
            <a:avLst/>
          </a:prstGeom>
        </p:spPr>
      </p:pic>
      <p:sp>
        <p:nvSpPr>
          <p:cNvPr id="201879275" name="Text 7"/>
          <p:cNvSpPr/>
          <p:nvPr/>
        </p:nvSpPr>
        <p:spPr bwMode="auto">
          <a:xfrm>
            <a:off x="2599063" y="5146651"/>
            <a:ext cx="4868641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</a:rPr>
              <a:t>Cytoscape.js + Leaflet</a:t>
            </a:r>
            <a:endParaRPr lang="en-US" sz="1800"/>
          </a:p>
        </p:txBody>
      </p:sp>
      <p:sp>
        <p:nvSpPr>
          <p:cNvPr id="810106306" name="Text 8"/>
          <p:cNvSpPr/>
          <p:nvPr/>
        </p:nvSpPr>
        <p:spPr bwMode="auto">
          <a:xfrm>
            <a:off x="2599062" y="5597835"/>
            <a:ext cx="4868641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Relationship graphs and GPS map visualization.</a:t>
            </a:r>
            <a:endParaRPr lang="en-US" sz="1600"/>
          </a:p>
        </p:txBody>
      </p:sp>
      <p:pic>
        <p:nvPicPr>
          <p:cNvPr id="253376933" name="Picture 15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10081077" y="6400760"/>
            <a:ext cx="2110923" cy="457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63363199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081077" y="6400760"/>
            <a:ext cx="2110923" cy="457240"/>
          </a:xfrm>
          <a:prstGeom prst="rect">
            <a:avLst/>
          </a:prstGeom>
        </p:spPr>
      </p:pic>
      <p:sp>
        <p:nvSpPr>
          <p:cNvPr id="1391717734" name="Text 0"/>
          <p:cNvSpPr/>
          <p:nvPr/>
        </p:nvSpPr>
        <p:spPr bwMode="auto">
          <a:xfrm>
            <a:off x="719814" y="624284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65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MODULE 1</a:t>
            </a:r>
            <a:endParaRPr lang="en-US" sz="3650"/>
          </a:p>
        </p:txBody>
      </p:sp>
      <p:sp>
        <p:nvSpPr>
          <p:cNvPr id="1944534382" name="Text 1"/>
          <p:cNvSpPr/>
          <p:nvPr/>
        </p:nvSpPr>
        <p:spPr bwMode="auto">
          <a:xfrm>
            <a:off x="818589" y="1444985"/>
            <a:ext cx="5125115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defRPr/>
            </a:pPr>
            <a:r>
              <a:rPr lang="en-IN" sz="2400" b="1">
                <a:latin typeface="Montserrat Bold"/>
              </a:rPr>
              <a:t>Convert the UFDR forensic file into structured, searchable evidence.</a:t>
            </a:r>
            <a:endParaRPr lang="en-US" sz="2400" b="1">
              <a:latin typeface="Montserrat Bold"/>
            </a:endParaRPr>
          </a:p>
        </p:txBody>
      </p:sp>
      <p:sp>
        <p:nvSpPr>
          <p:cNvPr id="367431506" name="TextBox 11"/>
          <p:cNvSpPr txBox="1"/>
          <p:nvPr/>
        </p:nvSpPr>
        <p:spPr bwMode="auto">
          <a:xfrm>
            <a:off x="7170821" y="2512059"/>
            <a:ext cx="460408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IN">
                <a:latin typeface="Montserrat Bold"/>
              </a:rPr>
              <a:t>UFDR File</a:t>
            </a:r>
            <a:endParaRPr/>
          </a:p>
          <a:p>
            <a:pPr algn="ctr">
              <a:defRPr/>
            </a:pPr>
            <a:r>
              <a:rPr lang="en-IN">
                <a:latin typeface="Montserrat Bold"/>
              </a:rPr>
              <a:t>   ↓</a:t>
            </a:r>
            <a:endParaRPr/>
          </a:p>
          <a:p>
            <a:pPr algn="ctr">
              <a:defRPr/>
            </a:pPr>
            <a:r>
              <a:rPr lang="en-IN">
                <a:latin typeface="Montserrat Bold"/>
              </a:rPr>
              <a:t>Extraction Engine</a:t>
            </a:r>
            <a:endParaRPr/>
          </a:p>
          <a:p>
            <a:pPr algn="ctr">
              <a:defRPr/>
            </a:pPr>
            <a:r>
              <a:rPr lang="en-IN">
                <a:latin typeface="Montserrat Bold"/>
              </a:rPr>
              <a:t>   ↓</a:t>
            </a:r>
            <a:endParaRPr/>
          </a:p>
          <a:p>
            <a:pPr algn="ctr">
              <a:defRPr/>
            </a:pPr>
            <a:r>
              <a:rPr lang="en-IN">
                <a:latin typeface="Montserrat Bold"/>
              </a:rPr>
              <a:t>Evidence Parser</a:t>
            </a:r>
            <a:endParaRPr/>
          </a:p>
          <a:p>
            <a:pPr algn="ctr">
              <a:defRPr/>
            </a:pPr>
            <a:r>
              <a:rPr lang="en-IN">
                <a:latin typeface="Montserrat Bold"/>
              </a:rPr>
              <a:t>   ↓</a:t>
            </a:r>
            <a:endParaRPr/>
          </a:p>
          <a:p>
            <a:pPr algn="ctr">
              <a:defRPr/>
            </a:pPr>
            <a:r>
              <a:rPr lang="en-IN">
                <a:latin typeface="Montserrat Bold"/>
              </a:rPr>
              <a:t>Structured Evidence Database</a:t>
            </a:r>
            <a:endParaRPr/>
          </a:p>
          <a:p>
            <a:pPr algn="ctr">
              <a:defRPr/>
            </a:pPr>
            <a:r>
              <a:rPr lang="en-IN">
                <a:latin typeface="Montserrat Bold"/>
              </a:rPr>
              <a:t>   ↓</a:t>
            </a:r>
            <a:endParaRPr/>
          </a:p>
          <a:p>
            <a:pPr algn="ctr">
              <a:defRPr/>
            </a:pPr>
            <a:r>
              <a:rPr lang="en-IN">
                <a:latin typeface="Montserrat Bold"/>
              </a:rPr>
              <a:t>Search / Timeline / Evidence Viewer</a:t>
            </a:r>
            <a:endParaRPr/>
          </a:p>
        </p:txBody>
      </p:sp>
      <p:sp>
        <p:nvSpPr>
          <p:cNvPr id="1112292020" name="Text 2"/>
          <p:cNvSpPr/>
          <p:nvPr/>
        </p:nvSpPr>
        <p:spPr bwMode="auto">
          <a:xfrm>
            <a:off x="818589" y="2265686"/>
            <a:ext cx="6352232" cy="3439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lvl="0" indent="-342900" algn="just">
              <a:buFont typeface="Arial"/>
              <a:buChar char="•"/>
              <a:defRPr/>
            </a:pPr>
            <a:r>
              <a:rPr lang="en-IN" sz="2000" b="1">
                <a:latin typeface="Source Sans 3"/>
              </a:rPr>
              <a:t>UFDR File Extraction</a:t>
            </a:r>
            <a:r>
              <a:rPr lang="en-IN" sz="2000">
                <a:latin typeface="Source Sans 3"/>
              </a:rPr>
              <a:t> – Extract forensic data from UFDR files. </a:t>
            </a:r>
            <a:endParaRPr/>
          </a:p>
          <a:p>
            <a:pPr marL="342900" lvl="0" indent="-342900" algn="just">
              <a:buFont typeface="Arial"/>
              <a:buChar char="•"/>
              <a:defRPr/>
            </a:pPr>
            <a:r>
              <a:rPr lang="en-IN" sz="2000" b="1">
                <a:latin typeface="Source Sans 3"/>
              </a:rPr>
              <a:t>Evidence Categorization</a:t>
            </a:r>
            <a:r>
              <a:rPr lang="en-IN" sz="2000">
                <a:latin typeface="Source Sans 3"/>
              </a:rPr>
              <a:t> – Organize calls, messages, contacts, media, locations, etc. </a:t>
            </a:r>
            <a:endParaRPr/>
          </a:p>
          <a:p>
            <a:pPr marL="342900" lvl="0" indent="-342900" algn="just">
              <a:buFont typeface="Arial"/>
              <a:buChar char="•"/>
              <a:defRPr/>
            </a:pPr>
            <a:r>
              <a:rPr lang="en-IN" sz="2000" b="1">
                <a:latin typeface="Source Sans 3"/>
              </a:rPr>
              <a:t>Data Search &amp; Filtering</a:t>
            </a:r>
            <a:r>
              <a:rPr lang="en-IN" sz="2000">
                <a:latin typeface="Source Sans 3"/>
              </a:rPr>
              <a:t> – Quickly search and filter extracted evidence. </a:t>
            </a:r>
            <a:endParaRPr/>
          </a:p>
          <a:p>
            <a:pPr marL="342900" lvl="0" indent="-342900" algn="just">
              <a:buFont typeface="Arial"/>
              <a:buChar char="•"/>
              <a:defRPr/>
            </a:pPr>
            <a:r>
              <a:rPr lang="en-IN" sz="2000" b="1">
                <a:latin typeface="Source Sans 3"/>
              </a:rPr>
              <a:t>Timeline Generation</a:t>
            </a:r>
            <a:r>
              <a:rPr lang="en-IN" sz="2000">
                <a:latin typeface="Source Sans 3"/>
              </a:rPr>
              <a:t> – Create a chronological timeline of device activities. </a:t>
            </a:r>
            <a:endParaRPr/>
          </a:p>
          <a:p>
            <a:pPr marL="342900" lvl="0" indent="-342900" algn="just">
              <a:buFont typeface="Arial"/>
              <a:buChar char="•"/>
              <a:defRPr/>
            </a:pPr>
            <a:r>
              <a:rPr lang="en-IN" sz="2000" b="1">
                <a:latin typeface="Source Sans 3"/>
              </a:rPr>
              <a:t>Evidence Integrity</a:t>
            </a:r>
            <a:r>
              <a:rPr lang="en-IN" sz="2000">
                <a:latin typeface="Source Sans 3"/>
              </a:rPr>
              <a:t> – Maintain metadata, timestamps, hashes, and forensic evidence integrity.</a:t>
            </a:r>
            <a:endParaRPr/>
          </a:p>
        </p:txBody>
      </p:sp>
      <p:sp>
        <p:nvSpPr>
          <p:cNvPr id="747242394" name="Rectangle 14"/>
          <p:cNvSpPr/>
          <p:nvPr/>
        </p:nvSpPr>
        <p:spPr bwMode="auto">
          <a:xfrm>
            <a:off x="8524373" y="2422358"/>
            <a:ext cx="1896979" cy="5062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1181829104" name="Rectangle 15"/>
          <p:cNvSpPr/>
          <p:nvPr/>
        </p:nvSpPr>
        <p:spPr bwMode="auto">
          <a:xfrm>
            <a:off x="8283741" y="3080972"/>
            <a:ext cx="2448427" cy="3480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939601608" name="Rectangle 16"/>
          <p:cNvSpPr/>
          <p:nvPr/>
        </p:nvSpPr>
        <p:spPr bwMode="auto">
          <a:xfrm>
            <a:off x="8339888" y="3607239"/>
            <a:ext cx="2448427" cy="3480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1868796429" name="Rectangle 17"/>
          <p:cNvSpPr/>
          <p:nvPr/>
        </p:nvSpPr>
        <p:spPr bwMode="auto">
          <a:xfrm>
            <a:off x="7465592" y="4176152"/>
            <a:ext cx="4006288" cy="3480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535436271" name="Rectangle 18"/>
          <p:cNvSpPr/>
          <p:nvPr/>
        </p:nvSpPr>
        <p:spPr bwMode="auto">
          <a:xfrm>
            <a:off x="7281107" y="4737000"/>
            <a:ext cx="4493797" cy="3480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4206504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081077" y="6400760"/>
            <a:ext cx="2110923" cy="457240"/>
          </a:xfrm>
          <a:prstGeom prst="rect">
            <a:avLst/>
          </a:prstGeom>
        </p:spPr>
      </p:pic>
      <p:sp>
        <p:nvSpPr>
          <p:cNvPr id="1101292252" name="Text 0"/>
          <p:cNvSpPr/>
          <p:nvPr/>
        </p:nvSpPr>
        <p:spPr bwMode="auto">
          <a:xfrm>
            <a:off x="719814" y="624284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65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MODULE 2</a:t>
            </a:r>
            <a:endParaRPr lang="en-US" sz="3650"/>
          </a:p>
        </p:txBody>
      </p:sp>
      <p:sp>
        <p:nvSpPr>
          <p:cNvPr id="1066390635" name="Text 1"/>
          <p:cNvSpPr/>
          <p:nvPr/>
        </p:nvSpPr>
        <p:spPr bwMode="auto">
          <a:xfrm>
            <a:off x="818589" y="1444985"/>
            <a:ext cx="5125115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defRPr/>
            </a:pPr>
            <a:r>
              <a:rPr lang="en-IN" sz="2400">
                <a:latin typeface="Montserrat Bold"/>
              </a:rPr>
              <a:t>AI-Based Investigation &amp; Intelligence</a:t>
            </a:r>
            <a:endParaRPr lang="en-US" sz="2400" b="1">
              <a:latin typeface="Montserrat Bold"/>
            </a:endParaRPr>
          </a:p>
        </p:txBody>
      </p:sp>
      <p:sp>
        <p:nvSpPr>
          <p:cNvPr id="644312949" name="TextBox 11"/>
          <p:cNvSpPr txBox="1"/>
          <p:nvPr/>
        </p:nvSpPr>
        <p:spPr bwMode="auto">
          <a:xfrm>
            <a:off x="7098632" y="2512059"/>
            <a:ext cx="467627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IN">
                <a:latin typeface="Montserrat Bold"/>
              </a:rPr>
              <a:t>Structured Evidence</a:t>
            </a:r>
            <a:endParaRPr/>
          </a:p>
          <a:p>
            <a:pPr algn="ctr">
              <a:defRPr/>
            </a:pPr>
            <a:r>
              <a:rPr lang="en-IN">
                <a:latin typeface="Montserrat Bold"/>
              </a:rPr>
              <a:t>        ↓</a:t>
            </a:r>
            <a:endParaRPr/>
          </a:p>
          <a:p>
            <a:pPr algn="ctr">
              <a:defRPr/>
            </a:pPr>
            <a:r>
              <a:rPr lang="en-IN">
                <a:latin typeface="Montserrat Bold"/>
              </a:rPr>
              <a:t>     AI Engine</a:t>
            </a:r>
            <a:endParaRPr/>
          </a:p>
          <a:p>
            <a:pPr algn="ctr">
              <a:defRPr/>
            </a:pPr>
            <a:r>
              <a:rPr lang="en-IN">
                <a:latin typeface="Montserrat Bold"/>
              </a:rPr>
              <a:t>        ↓</a:t>
            </a:r>
            <a:endParaRPr/>
          </a:p>
          <a:p>
            <a:pPr algn="ctr">
              <a:defRPr/>
            </a:pPr>
            <a:r>
              <a:rPr lang="en-IN">
                <a:latin typeface="Montserrat Bold"/>
              </a:rPr>
              <a:t> ┌───────┼────────┐</a:t>
            </a:r>
            <a:endParaRPr/>
          </a:p>
          <a:p>
            <a:pPr algn="ctr">
              <a:defRPr/>
            </a:pPr>
            <a:r>
              <a:rPr lang="en-IN">
                <a:latin typeface="Montserrat Bold"/>
              </a:rPr>
              <a:t> ↓                                              ↓                            ↓</a:t>
            </a:r>
            <a:endParaRPr/>
          </a:p>
          <a:p>
            <a:pPr algn="ctr">
              <a:defRPr/>
            </a:pPr>
            <a:r>
              <a:rPr lang="en-IN">
                <a:latin typeface="Montserrat Bold"/>
              </a:rPr>
              <a:t>Entities       Patterns     Relationships</a:t>
            </a:r>
            <a:endParaRPr/>
          </a:p>
          <a:p>
            <a:pPr algn="ctr">
              <a:defRPr/>
            </a:pPr>
            <a:r>
              <a:rPr lang="en-IN">
                <a:latin typeface="Montserrat Bold"/>
              </a:rPr>
              <a:t>↓</a:t>
            </a:r>
            <a:endParaRPr/>
          </a:p>
          <a:p>
            <a:pPr algn="ctr">
              <a:defRPr/>
            </a:pPr>
            <a:r>
              <a:rPr lang="en-IN">
                <a:latin typeface="Montserrat Bold"/>
              </a:rPr>
              <a:t>       Investigation</a:t>
            </a:r>
            <a:endParaRPr/>
          </a:p>
          <a:p>
            <a:pPr algn="ctr">
              <a:defRPr/>
            </a:pPr>
            <a:r>
              <a:rPr lang="en-IN">
                <a:latin typeface="Montserrat Bold"/>
              </a:rPr>
              <a:t>          ↓</a:t>
            </a:r>
            <a:endParaRPr/>
          </a:p>
          <a:p>
            <a:pPr algn="ctr">
              <a:defRPr/>
            </a:pPr>
            <a:r>
              <a:rPr lang="en-IN">
                <a:latin typeface="Montserrat Bold"/>
              </a:rPr>
              <a:t>    AI Insights/Report</a:t>
            </a:r>
            <a:endParaRPr/>
          </a:p>
        </p:txBody>
      </p:sp>
      <p:sp>
        <p:nvSpPr>
          <p:cNvPr id="818474410" name="Text 2"/>
          <p:cNvSpPr/>
          <p:nvPr/>
        </p:nvSpPr>
        <p:spPr bwMode="auto">
          <a:xfrm>
            <a:off x="559258" y="2298413"/>
            <a:ext cx="6352232" cy="3439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lvl="0" indent="-342900" algn="just">
              <a:buFont typeface="Arial"/>
              <a:buChar char="•"/>
              <a:defRPr/>
            </a:pPr>
            <a:r>
              <a:rPr lang="en-IN" sz="2000" b="1"/>
              <a:t>AI Evidence Analysis</a:t>
            </a:r>
            <a:r>
              <a:rPr lang="en-IN" sz="2000"/>
              <a:t> – </a:t>
            </a:r>
            <a:r>
              <a:rPr lang="en-IN" sz="2000"/>
              <a:t>Analyze</a:t>
            </a:r>
            <a:r>
              <a:rPr lang="en-IN" sz="2000"/>
              <a:t> extracted forensic data using AI. </a:t>
            </a:r>
            <a:endParaRPr/>
          </a:p>
          <a:p>
            <a:pPr marL="342900" lvl="0" indent="-342900" algn="just">
              <a:buFont typeface="Arial"/>
              <a:buChar char="•"/>
              <a:defRPr/>
            </a:pPr>
            <a:r>
              <a:rPr lang="en-IN" sz="2000" b="1"/>
              <a:t>Entity &amp; Relationship Detection</a:t>
            </a:r>
            <a:r>
              <a:rPr lang="en-IN" sz="2000"/>
              <a:t> – Identify people, phone numbers, locations, and their connections. </a:t>
            </a:r>
            <a:endParaRPr/>
          </a:p>
          <a:p>
            <a:pPr marL="342900" lvl="0" indent="-342900" algn="just">
              <a:buFont typeface="Arial"/>
              <a:buChar char="•"/>
              <a:defRPr/>
            </a:pPr>
            <a:r>
              <a:rPr lang="en-IN" sz="2000" b="1"/>
              <a:t>Suspicious Activity Detection</a:t>
            </a:r>
            <a:r>
              <a:rPr lang="en-IN" sz="2000"/>
              <a:t> – Detect unusual communication and activity patterns. </a:t>
            </a:r>
            <a:endParaRPr/>
          </a:p>
          <a:p>
            <a:pPr marL="342900" lvl="0" indent="-342900" algn="just">
              <a:buFont typeface="Arial"/>
              <a:buChar char="•"/>
              <a:defRPr/>
            </a:pPr>
            <a:r>
              <a:rPr lang="en-IN" sz="2000" b="1"/>
              <a:t>AI Summarization &amp; Querying</a:t>
            </a:r>
            <a:r>
              <a:rPr lang="en-IN" sz="2000"/>
              <a:t> – Ask questions in natural language and generate evidence-based summaries. </a:t>
            </a:r>
            <a:endParaRPr/>
          </a:p>
          <a:p>
            <a:pPr marL="342900" lvl="0" indent="-342900" algn="just">
              <a:buFont typeface="Arial"/>
              <a:buChar char="•"/>
              <a:defRPr/>
            </a:pPr>
            <a:r>
              <a:rPr lang="en-IN" sz="2000" b="1"/>
              <a:t>Investigation Report Generation</a:t>
            </a:r>
            <a:r>
              <a:rPr lang="en-IN" sz="2000"/>
              <a:t> – Generate structured investigation reports with relevant findings.</a:t>
            </a:r>
            <a:endParaRPr/>
          </a:p>
        </p:txBody>
      </p:sp>
      <p:sp>
        <p:nvSpPr>
          <p:cNvPr id="1923418943" name="Rectangle 6"/>
          <p:cNvSpPr/>
          <p:nvPr/>
        </p:nvSpPr>
        <p:spPr bwMode="auto">
          <a:xfrm>
            <a:off x="8283741" y="3080972"/>
            <a:ext cx="2448427" cy="3480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246681361" name="Rectangle 9"/>
          <p:cNvSpPr/>
          <p:nvPr/>
        </p:nvSpPr>
        <p:spPr bwMode="auto">
          <a:xfrm>
            <a:off x="8090152" y="2491485"/>
            <a:ext cx="2800270" cy="3480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365375722" name="Rectangle 10"/>
          <p:cNvSpPr/>
          <p:nvPr/>
        </p:nvSpPr>
        <p:spPr bwMode="auto">
          <a:xfrm>
            <a:off x="7104832" y="4495495"/>
            <a:ext cx="1248335" cy="3480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960550885" name="Rectangle 12"/>
          <p:cNvSpPr/>
          <p:nvPr/>
        </p:nvSpPr>
        <p:spPr bwMode="auto">
          <a:xfrm>
            <a:off x="8540310" y="4495495"/>
            <a:ext cx="1248335" cy="3480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1115588239" name="Rectangle 13"/>
          <p:cNvSpPr/>
          <p:nvPr/>
        </p:nvSpPr>
        <p:spPr bwMode="auto">
          <a:xfrm>
            <a:off x="9975787" y="4495495"/>
            <a:ext cx="1656955" cy="3480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724595705" name="Rectangle 14"/>
          <p:cNvSpPr/>
          <p:nvPr/>
        </p:nvSpPr>
        <p:spPr bwMode="auto">
          <a:xfrm>
            <a:off x="8834846" y="5037923"/>
            <a:ext cx="1656955" cy="3480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647165806" name="Rectangle 15"/>
          <p:cNvSpPr/>
          <p:nvPr/>
        </p:nvSpPr>
        <p:spPr bwMode="auto">
          <a:xfrm>
            <a:off x="8424122" y="5538350"/>
            <a:ext cx="2466300" cy="3716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085609" name="Text 0"/>
          <p:cNvSpPr/>
          <p:nvPr/>
        </p:nvSpPr>
        <p:spPr bwMode="auto">
          <a:xfrm>
            <a:off x="719814" y="902097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65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System Workflow</a:t>
            </a:r>
            <a:endParaRPr lang="en-US" sz="3650"/>
          </a:p>
        </p:txBody>
      </p:sp>
      <p:sp>
        <p:nvSpPr>
          <p:cNvPr id="486886819" name="Text 1"/>
          <p:cNvSpPr/>
          <p:nvPr/>
        </p:nvSpPr>
        <p:spPr bwMode="auto">
          <a:xfrm>
            <a:off x="719814" y="1897856"/>
            <a:ext cx="411351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</a:rPr>
              <a:t>01</a:t>
            </a:r>
            <a:endParaRPr lang="en-US" sz="1600"/>
          </a:p>
        </p:txBody>
      </p:sp>
      <p:sp>
        <p:nvSpPr>
          <p:cNvPr id="40658142" name="Shape 2"/>
          <p:cNvSpPr/>
          <p:nvPr/>
        </p:nvSpPr>
        <p:spPr bwMode="auto">
          <a:xfrm>
            <a:off x="719814" y="2222004"/>
            <a:ext cx="3446872" cy="2540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33394310" name="Text 3"/>
          <p:cNvSpPr/>
          <p:nvPr/>
        </p:nvSpPr>
        <p:spPr bwMode="auto">
          <a:xfrm>
            <a:off x="719814" y="2375595"/>
            <a:ext cx="3446872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</a:rPr>
              <a:t>Upload UFDR</a:t>
            </a:r>
            <a:endParaRPr lang="en-US" sz="1800"/>
          </a:p>
        </p:txBody>
      </p:sp>
      <p:sp>
        <p:nvSpPr>
          <p:cNvPr id="1522486468" name="Text 4"/>
          <p:cNvSpPr/>
          <p:nvPr/>
        </p:nvSpPr>
        <p:spPr bwMode="auto">
          <a:xfrm>
            <a:off x="719814" y="2791122"/>
            <a:ext cx="3446872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Import the forensic report into the platform.</a:t>
            </a:r>
            <a:endParaRPr lang="en-US" sz="1600"/>
          </a:p>
        </p:txBody>
      </p:sp>
      <p:sp>
        <p:nvSpPr>
          <p:cNvPr id="1656934100" name="Text 5"/>
          <p:cNvSpPr/>
          <p:nvPr/>
        </p:nvSpPr>
        <p:spPr bwMode="auto">
          <a:xfrm>
            <a:off x="4372362" y="1897856"/>
            <a:ext cx="411351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</a:rPr>
              <a:t>02</a:t>
            </a:r>
            <a:endParaRPr lang="en-US" sz="1600"/>
          </a:p>
        </p:txBody>
      </p:sp>
      <p:sp>
        <p:nvSpPr>
          <p:cNvPr id="1459734512" name="Shape 6"/>
          <p:cNvSpPr/>
          <p:nvPr/>
        </p:nvSpPr>
        <p:spPr bwMode="auto">
          <a:xfrm>
            <a:off x="4372362" y="2222004"/>
            <a:ext cx="3446872" cy="2540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500456348" name="Text 7"/>
          <p:cNvSpPr/>
          <p:nvPr/>
        </p:nvSpPr>
        <p:spPr bwMode="auto">
          <a:xfrm>
            <a:off x="4372362" y="2375595"/>
            <a:ext cx="3446872" cy="5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</a:rPr>
              <a:t>Evidence Processing &amp; Classification</a:t>
            </a:r>
            <a:endParaRPr lang="en-US" sz="1800"/>
          </a:p>
        </p:txBody>
      </p:sp>
      <p:sp>
        <p:nvSpPr>
          <p:cNvPr id="1086698355" name="Text 8"/>
          <p:cNvSpPr/>
          <p:nvPr/>
        </p:nvSpPr>
        <p:spPr bwMode="auto">
          <a:xfrm>
            <a:off x="4372362" y="3083322"/>
            <a:ext cx="3446872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Automatically categorize all extracted data types.</a:t>
            </a:r>
            <a:endParaRPr lang="en-US" sz="1600"/>
          </a:p>
        </p:txBody>
      </p:sp>
      <p:sp>
        <p:nvSpPr>
          <p:cNvPr id="276185819" name="Text 9"/>
          <p:cNvSpPr/>
          <p:nvPr/>
        </p:nvSpPr>
        <p:spPr bwMode="auto">
          <a:xfrm>
            <a:off x="8024909" y="1897856"/>
            <a:ext cx="411351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</a:rPr>
              <a:t>03</a:t>
            </a:r>
            <a:endParaRPr lang="en-US" sz="1600"/>
          </a:p>
        </p:txBody>
      </p:sp>
      <p:sp>
        <p:nvSpPr>
          <p:cNvPr id="1734425690" name="Shape 10"/>
          <p:cNvSpPr/>
          <p:nvPr/>
        </p:nvSpPr>
        <p:spPr bwMode="auto">
          <a:xfrm>
            <a:off x="8024909" y="2222004"/>
            <a:ext cx="3446872" cy="2540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2013581865" name="Text 11"/>
          <p:cNvSpPr/>
          <p:nvPr/>
        </p:nvSpPr>
        <p:spPr bwMode="auto">
          <a:xfrm>
            <a:off x="8024909" y="2375595"/>
            <a:ext cx="3446872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</a:rPr>
              <a:t>Timeline Generation</a:t>
            </a:r>
            <a:endParaRPr lang="en-US" sz="1800"/>
          </a:p>
        </p:txBody>
      </p:sp>
      <p:sp>
        <p:nvSpPr>
          <p:cNvPr id="1850779243" name="Text 12"/>
          <p:cNvSpPr/>
          <p:nvPr/>
        </p:nvSpPr>
        <p:spPr bwMode="auto">
          <a:xfrm>
            <a:off x="8024909" y="2791122"/>
            <a:ext cx="3446872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Build a chronological event sequence from the evidence.</a:t>
            </a:r>
            <a:endParaRPr lang="en-US" sz="1600"/>
          </a:p>
        </p:txBody>
      </p:sp>
      <p:sp>
        <p:nvSpPr>
          <p:cNvPr id="461772467" name="Text 13"/>
          <p:cNvSpPr/>
          <p:nvPr/>
        </p:nvSpPr>
        <p:spPr bwMode="auto">
          <a:xfrm>
            <a:off x="719814" y="4060130"/>
            <a:ext cx="411351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</a:rPr>
              <a:t>04</a:t>
            </a:r>
            <a:endParaRPr lang="en-US" sz="1600"/>
          </a:p>
        </p:txBody>
      </p:sp>
      <p:sp>
        <p:nvSpPr>
          <p:cNvPr id="1859361847" name="Shape 14"/>
          <p:cNvSpPr/>
          <p:nvPr/>
        </p:nvSpPr>
        <p:spPr bwMode="auto">
          <a:xfrm>
            <a:off x="719814" y="4384278"/>
            <a:ext cx="5273146" cy="2540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148495415" name="Text 15"/>
          <p:cNvSpPr/>
          <p:nvPr/>
        </p:nvSpPr>
        <p:spPr bwMode="auto">
          <a:xfrm>
            <a:off x="719814" y="4537869"/>
            <a:ext cx="5273146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</a:rPr>
              <a:t>Relationship Analysis</a:t>
            </a:r>
            <a:endParaRPr lang="en-US" sz="1800"/>
          </a:p>
        </p:txBody>
      </p:sp>
      <p:sp>
        <p:nvSpPr>
          <p:cNvPr id="531187659" name="Text 16"/>
          <p:cNvSpPr/>
          <p:nvPr/>
        </p:nvSpPr>
        <p:spPr bwMode="auto">
          <a:xfrm>
            <a:off x="719814" y="4953397"/>
            <a:ext cx="5273146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Map connections between contacts and communications.</a:t>
            </a:r>
            <a:endParaRPr lang="en-US" sz="1600"/>
          </a:p>
        </p:txBody>
      </p:sp>
      <p:sp>
        <p:nvSpPr>
          <p:cNvPr id="748777777" name="Text 17"/>
          <p:cNvSpPr/>
          <p:nvPr/>
        </p:nvSpPr>
        <p:spPr bwMode="auto">
          <a:xfrm>
            <a:off x="6198636" y="4060130"/>
            <a:ext cx="411351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</a:rPr>
              <a:t>05</a:t>
            </a:r>
            <a:endParaRPr lang="en-US" sz="1600"/>
          </a:p>
        </p:txBody>
      </p:sp>
      <p:sp>
        <p:nvSpPr>
          <p:cNvPr id="174673980" name="Shape 18"/>
          <p:cNvSpPr/>
          <p:nvPr/>
        </p:nvSpPr>
        <p:spPr bwMode="auto">
          <a:xfrm>
            <a:off x="6198636" y="4384278"/>
            <a:ext cx="5273146" cy="2540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941293900" name="Text 19"/>
          <p:cNvSpPr/>
          <p:nvPr/>
        </p:nvSpPr>
        <p:spPr bwMode="auto">
          <a:xfrm>
            <a:off x="6198636" y="4537869"/>
            <a:ext cx="5273146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</a:rPr>
              <a:t>Case Dashboard &amp; Investigation Report</a:t>
            </a:r>
            <a:endParaRPr lang="en-US" sz="1800"/>
          </a:p>
        </p:txBody>
      </p:sp>
      <p:sp>
        <p:nvSpPr>
          <p:cNvPr id="1371220797" name="Text 20"/>
          <p:cNvSpPr/>
          <p:nvPr/>
        </p:nvSpPr>
        <p:spPr bwMode="auto">
          <a:xfrm>
            <a:off x="6198636" y="4953397"/>
            <a:ext cx="5273146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Review all findings and generate the final summary.</a:t>
            </a:r>
            <a:endParaRPr lang="en-US" sz="1600"/>
          </a:p>
        </p:txBody>
      </p:sp>
      <p:sp>
        <p:nvSpPr>
          <p:cNvPr id="1057083596" name="Text 21"/>
          <p:cNvSpPr/>
          <p:nvPr/>
        </p:nvSpPr>
        <p:spPr bwMode="auto">
          <a:xfrm>
            <a:off x="719814" y="5647432"/>
            <a:ext cx="11361652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A streamlined pipeline takes investigators from raw UFDR data to a complete, actionable case report.</a:t>
            </a:r>
            <a:endParaRPr lang="en-US" sz="1600"/>
          </a:p>
        </p:txBody>
      </p:sp>
      <p:pic>
        <p:nvPicPr>
          <p:cNvPr id="1647583844" name="Picture 2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081077" y="6400760"/>
            <a:ext cx="2110923" cy="457240"/>
          </a:xfrm>
          <a:prstGeom prst="rect">
            <a:avLst/>
          </a:prstGeom>
        </p:spPr>
      </p:pic>
      <p:pic>
        <p:nvPicPr>
          <p:cNvPr id="1465557987" name="Picture 2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233477" y="6553160"/>
            <a:ext cx="2110923" cy="457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692780" name="Text 0"/>
          <p:cNvSpPr/>
          <p:nvPr/>
        </p:nvSpPr>
        <p:spPr bwMode="auto">
          <a:xfrm>
            <a:off x="719814" y="574873"/>
            <a:ext cx="10752067" cy="525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Evidence Dashboard</a:t>
            </a:r>
            <a:endParaRPr lang="en-US" sz="3300"/>
          </a:p>
        </p:txBody>
      </p:sp>
      <p:sp>
        <p:nvSpPr>
          <p:cNvPr id="396370113" name="Text 1"/>
          <p:cNvSpPr/>
          <p:nvPr/>
        </p:nvSpPr>
        <p:spPr bwMode="auto">
          <a:xfrm>
            <a:off x="719814" y="1433909"/>
            <a:ext cx="11361652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  <a:defRPr/>
            </a:pPr>
            <a:r>
              <a:rPr lang="en-US" sz="145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All evidence types unified in one centralized view.</a:t>
            </a:r>
            <a:endParaRPr lang="en-US" sz="1450"/>
          </a:p>
        </p:txBody>
      </p:sp>
      <p:sp>
        <p:nvSpPr>
          <p:cNvPr id="815960984" name="Shape 2"/>
          <p:cNvSpPr/>
          <p:nvPr/>
        </p:nvSpPr>
        <p:spPr bwMode="auto">
          <a:xfrm>
            <a:off x="719814" y="1885156"/>
            <a:ext cx="3472966" cy="1354931"/>
          </a:xfrm>
          <a:prstGeom prst="roundRect">
            <a:avLst>
              <a:gd name="adj" fmla="val 2049"/>
            </a:avLst>
          </a:prstGeom>
          <a:solidFill>
            <a:srgbClr val="F2EEEE"/>
          </a:solidFill>
          <a:ln/>
        </p:spPr>
      </p:sp>
      <p:sp>
        <p:nvSpPr>
          <p:cNvPr id="620547134" name="Shape 3"/>
          <p:cNvSpPr/>
          <p:nvPr/>
        </p:nvSpPr>
        <p:spPr bwMode="auto">
          <a:xfrm>
            <a:off x="904852" y="2070199"/>
            <a:ext cx="555313" cy="555327"/>
          </a:xfrm>
          <a:prstGeom prst="ellipse">
            <a:avLst/>
          </a:prstGeom>
          <a:solidFill>
            <a:srgbClr val="2D2E34"/>
          </a:solidFill>
          <a:ln/>
        </p:spPr>
      </p:sp>
      <p:pic>
        <p:nvPicPr>
          <p:cNvPr id="968839786" name="Image 0" descr="preencoded.png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1057546" y="2222897"/>
            <a:ext cx="249827" cy="249832"/>
          </a:xfrm>
          <a:prstGeom prst="rect">
            <a:avLst/>
          </a:prstGeom>
        </p:spPr>
      </p:pic>
      <p:sp>
        <p:nvSpPr>
          <p:cNvPr id="244612357" name="Text 4"/>
          <p:cNvSpPr/>
          <p:nvPr/>
        </p:nvSpPr>
        <p:spPr bwMode="auto">
          <a:xfrm>
            <a:off x="904852" y="2792115"/>
            <a:ext cx="3102890" cy="26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</a:rPr>
              <a:t>Messages</a:t>
            </a:r>
            <a:endParaRPr lang="en-US" sz="1650"/>
          </a:p>
        </p:txBody>
      </p:sp>
      <p:sp>
        <p:nvSpPr>
          <p:cNvPr id="462039894" name="Shape 5"/>
          <p:cNvSpPr/>
          <p:nvPr/>
        </p:nvSpPr>
        <p:spPr bwMode="auto">
          <a:xfrm>
            <a:off x="4359364" y="1885156"/>
            <a:ext cx="3472966" cy="1354931"/>
          </a:xfrm>
          <a:prstGeom prst="roundRect">
            <a:avLst>
              <a:gd name="adj" fmla="val 2049"/>
            </a:avLst>
          </a:prstGeom>
          <a:solidFill>
            <a:srgbClr val="F2EEEE"/>
          </a:solidFill>
          <a:ln/>
        </p:spPr>
      </p:sp>
      <p:sp>
        <p:nvSpPr>
          <p:cNvPr id="1362011257" name="Shape 6"/>
          <p:cNvSpPr/>
          <p:nvPr/>
        </p:nvSpPr>
        <p:spPr bwMode="auto">
          <a:xfrm>
            <a:off x="4544403" y="2070199"/>
            <a:ext cx="555313" cy="555327"/>
          </a:xfrm>
          <a:prstGeom prst="ellipse">
            <a:avLst/>
          </a:prstGeom>
          <a:solidFill>
            <a:srgbClr val="2D2E34"/>
          </a:solidFill>
          <a:ln/>
        </p:spPr>
      </p:sp>
      <p:pic>
        <p:nvPicPr>
          <p:cNvPr id="703249747" name="Image 1" descr="preencoded.png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4697097" y="2222897"/>
            <a:ext cx="249827" cy="249832"/>
          </a:xfrm>
          <a:prstGeom prst="rect">
            <a:avLst/>
          </a:prstGeom>
        </p:spPr>
      </p:pic>
      <p:sp>
        <p:nvSpPr>
          <p:cNvPr id="682271439" name="Text 7"/>
          <p:cNvSpPr/>
          <p:nvPr/>
        </p:nvSpPr>
        <p:spPr bwMode="auto">
          <a:xfrm>
            <a:off x="4544403" y="2792115"/>
            <a:ext cx="3102890" cy="26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</a:rPr>
              <a:t>Call Logs</a:t>
            </a:r>
            <a:endParaRPr lang="en-US" sz="1650"/>
          </a:p>
        </p:txBody>
      </p:sp>
      <p:sp>
        <p:nvSpPr>
          <p:cNvPr id="977492967" name="Shape 8"/>
          <p:cNvSpPr/>
          <p:nvPr/>
        </p:nvSpPr>
        <p:spPr bwMode="auto">
          <a:xfrm>
            <a:off x="7998915" y="1885156"/>
            <a:ext cx="3472966" cy="1354931"/>
          </a:xfrm>
          <a:prstGeom prst="roundRect">
            <a:avLst>
              <a:gd name="adj" fmla="val 2049"/>
            </a:avLst>
          </a:prstGeom>
          <a:solidFill>
            <a:srgbClr val="F2EEEE"/>
          </a:solidFill>
          <a:ln/>
        </p:spPr>
      </p:sp>
      <p:sp>
        <p:nvSpPr>
          <p:cNvPr id="1301405702" name="Shape 9"/>
          <p:cNvSpPr/>
          <p:nvPr/>
        </p:nvSpPr>
        <p:spPr bwMode="auto">
          <a:xfrm>
            <a:off x="8183953" y="2070199"/>
            <a:ext cx="555313" cy="555327"/>
          </a:xfrm>
          <a:prstGeom prst="ellipse">
            <a:avLst/>
          </a:prstGeom>
          <a:solidFill>
            <a:srgbClr val="2D2E34"/>
          </a:solidFill>
          <a:ln/>
        </p:spPr>
      </p:sp>
      <p:pic>
        <p:nvPicPr>
          <p:cNvPr id="1269816794" name="Image 2" descr="preencoded.png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>
            <a:off x="8336647" y="2222897"/>
            <a:ext cx="249827" cy="249832"/>
          </a:xfrm>
          <a:prstGeom prst="rect">
            <a:avLst/>
          </a:prstGeom>
        </p:spPr>
      </p:pic>
      <p:sp>
        <p:nvSpPr>
          <p:cNvPr id="1252407244" name="Text 10"/>
          <p:cNvSpPr/>
          <p:nvPr/>
        </p:nvSpPr>
        <p:spPr bwMode="auto">
          <a:xfrm>
            <a:off x="8183953" y="2792115"/>
            <a:ext cx="3102890" cy="26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</a:rPr>
              <a:t>Contacts</a:t>
            </a:r>
            <a:endParaRPr lang="en-US" sz="1650"/>
          </a:p>
        </p:txBody>
      </p:sp>
      <p:sp>
        <p:nvSpPr>
          <p:cNvPr id="507167334" name="Shape 11"/>
          <p:cNvSpPr/>
          <p:nvPr/>
        </p:nvSpPr>
        <p:spPr bwMode="auto">
          <a:xfrm>
            <a:off x="719814" y="3406676"/>
            <a:ext cx="3472966" cy="1354931"/>
          </a:xfrm>
          <a:prstGeom prst="roundRect">
            <a:avLst>
              <a:gd name="adj" fmla="val 2049"/>
            </a:avLst>
          </a:prstGeom>
          <a:solidFill>
            <a:srgbClr val="F2EEEE"/>
          </a:solidFill>
          <a:ln/>
        </p:spPr>
      </p:sp>
      <p:sp>
        <p:nvSpPr>
          <p:cNvPr id="634903530" name="Shape 12"/>
          <p:cNvSpPr/>
          <p:nvPr/>
        </p:nvSpPr>
        <p:spPr bwMode="auto">
          <a:xfrm>
            <a:off x="904852" y="3591719"/>
            <a:ext cx="555313" cy="555327"/>
          </a:xfrm>
          <a:prstGeom prst="ellipse">
            <a:avLst/>
          </a:prstGeom>
          <a:solidFill>
            <a:srgbClr val="2D2E34"/>
          </a:solidFill>
          <a:ln/>
        </p:spPr>
      </p:sp>
      <p:pic>
        <p:nvPicPr>
          <p:cNvPr id="1685748722" name="Image 3" descr="preencoded.png"/>
          <p:cNvPicPr>
            <a:picLocks noChangeAspect="1"/>
          </p:cNvPicPr>
          <p:nvPr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>
            <a:off x="1057546" y="3744416"/>
            <a:ext cx="249827" cy="249832"/>
          </a:xfrm>
          <a:prstGeom prst="rect">
            <a:avLst/>
          </a:prstGeom>
        </p:spPr>
      </p:pic>
      <p:sp>
        <p:nvSpPr>
          <p:cNvPr id="939840058" name="Text 13"/>
          <p:cNvSpPr/>
          <p:nvPr/>
        </p:nvSpPr>
        <p:spPr bwMode="auto">
          <a:xfrm>
            <a:off x="904852" y="4313634"/>
            <a:ext cx="3102890" cy="26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</a:rPr>
              <a:t>Images &amp; Videos</a:t>
            </a:r>
            <a:endParaRPr lang="en-US" sz="1650"/>
          </a:p>
        </p:txBody>
      </p:sp>
      <p:sp>
        <p:nvSpPr>
          <p:cNvPr id="708786136" name="Shape 14"/>
          <p:cNvSpPr/>
          <p:nvPr/>
        </p:nvSpPr>
        <p:spPr bwMode="auto">
          <a:xfrm>
            <a:off x="4359364" y="3406676"/>
            <a:ext cx="3472966" cy="1354931"/>
          </a:xfrm>
          <a:prstGeom prst="roundRect">
            <a:avLst>
              <a:gd name="adj" fmla="val 2049"/>
            </a:avLst>
          </a:prstGeom>
          <a:solidFill>
            <a:srgbClr val="F2EEEE"/>
          </a:solidFill>
          <a:ln/>
        </p:spPr>
      </p:sp>
      <p:sp>
        <p:nvSpPr>
          <p:cNvPr id="415655259" name="Shape 15"/>
          <p:cNvSpPr/>
          <p:nvPr/>
        </p:nvSpPr>
        <p:spPr bwMode="auto">
          <a:xfrm>
            <a:off x="4544403" y="3591719"/>
            <a:ext cx="555313" cy="555327"/>
          </a:xfrm>
          <a:prstGeom prst="ellipse">
            <a:avLst/>
          </a:prstGeom>
          <a:solidFill>
            <a:srgbClr val="2D2E34"/>
          </a:solidFill>
          <a:ln/>
        </p:spPr>
      </p:sp>
      <p:pic>
        <p:nvPicPr>
          <p:cNvPr id="138126597" name="Image 4" descr="preencoded.png"/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 bwMode="auto">
          <a:xfrm>
            <a:off x="4697097" y="3744416"/>
            <a:ext cx="249827" cy="249832"/>
          </a:xfrm>
          <a:prstGeom prst="rect">
            <a:avLst/>
          </a:prstGeom>
        </p:spPr>
      </p:pic>
      <p:sp>
        <p:nvSpPr>
          <p:cNvPr id="1207628366" name="Text 16"/>
          <p:cNvSpPr/>
          <p:nvPr/>
        </p:nvSpPr>
        <p:spPr bwMode="auto">
          <a:xfrm>
            <a:off x="4544403" y="4313634"/>
            <a:ext cx="3102890" cy="26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</a:rPr>
              <a:t>GPS History</a:t>
            </a:r>
            <a:endParaRPr lang="en-US" sz="1650"/>
          </a:p>
        </p:txBody>
      </p:sp>
      <p:sp>
        <p:nvSpPr>
          <p:cNvPr id="97236829" name="Shape 17"/>
          <p:cNvSpPr/>
          <p:nvPr/>
        </p:nvSpPr>
        <p:spPr bwMode="auto">
          <a:xfrm>
            <a:off x="7998915" y="3406676"/>
            <a:ext cx="3472966" cy="1354931"/>
          </a:xfrm>
          <a:prstGeom prst="roundRect">
            <a:avLst>
              <a:gd name="adj" fmla="val 2049"/>
            </a:avLst>
          </a:prstGeom>
          <a:solidFill>
            <a:srgbClr val="F2EEEE"/>
          </a:solidFill>
          <a:ln/>
        </p:spPr>
      </p:sp>
      <p:sp>
        <p:nvSpPr>
          <p:cNvPr id="1734394906" name="Shape 18"/>
          <p:cNvSpPr/>
          <p:nvPr/>
        </p:nvSpPr>
        <p:spPr bwMode="auto">
          <a:xfrm>
            <a:off x="8183953" y="3591719"/>
            <a:ext cx="555313" cy="555327"/>
          </a:xfrm>
          <a:prstGeom prst="ellipse">
            <a:avLst/>
          </a:prstGeom>
          <a:solidFill>
            <a:srgbClr val="2D2E34"/>
          </a:solidFill>
          <a:ln/>
        </p:spPr>
      </p:sp>
      <p:pic>
        <p:nvPicPr>
          <p:cNvPr id="967728387" name="Image 5" descr="preencoded.png"/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 bwMode="auto">
          <a:xfrm>
            <a:off x="8336647" y="3744416"/>
            <a:ext cx="249827" cy="249832"/>
          </a:xfrm>
          <a:prstGeom prst="rect">
            <a:avLst/>
          </a:prstGeom>
        </p:spPr>
      </p:pic>
      <p:sp>
        <p:nvSpPr>
          <p:cNvPr id="559289249" name="Text 19"/>
          <p:cNvSpPr/>
          <p:nvPr/>
        </p:nvSpPr>
        <p:spPr bwMode="auto">
          <a:xfrm>
            <a:off x="8183953" y="4313634"/>
            <a:ext cx="3102890" cy="26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</a:rPr>
              <a:t>Documents</a:t>
            </a:r>
            <a:endParaRPr lang="en-US" sz="1650"/>
          </a:p>
        </p:txBody>
      </p:sp>
      <p:sp>
        <p:nvSpPr>
          <p:cNvPr id="815571435" name="Shape 20"/>
          <p:cNvSpPr/>
          <p:nvPr/>
        </p:nvSpPr>
        <p:spPr bwMode="auto">
          <a:xfrm>
            <a:off x="719814" y="4928195"/>
            <a:ext cx="10752067" cy="1354931"/>
          </a:xfrm>
          <a:prstGeom prst="roundRect">
            <a:avLst>
              <a:gd name="adj" fmla="val 2049"/>
            </a:avLst>
          </a:prstGeom>
          <a:solidFill>
            <a:srgbClr val="F2EEEE"/>
          </a:solidFill>
          <a:ln/>
        </p:spPr>
      </p:sp>
      <p:sp>
        <p:nvSpPr>
          <p:cNvPr id="568414864" name="Shape 21"/>
          <p:cNvSpPr/>
          <p:nvPr/>
        </p:nvSpPr>
        <p:spPr bwMode="auto">
          <a:xfrm>
            <a:off x="904852" y="5113238"/>
            <a:ext cx="555313" cy="555327"/>
          </a:xfrm>
          <a:prstGeom prst="ellipse">
            <a:avLst/>
          </a:prstGeom>
          <a:solidFill>
            <a:srgbClr val="2D2E34"/>
          </a:solidFill>
          <a:ln/>
        </p:spPr>
      </p:sp>
      <p:pic>
        <p:nvPicPr>
          <p:cNvPr id="1034166446" name="Image 6" descr="preencoded.png"/>
          <p:cNvPicPr>
            <a:picLocks noChangeAspect="1"/>
          </p:cNvPicPr>
          <p:nvPr/>
        </p:nvPicPr>
        <p:blipFill rotWithShape="1"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 bwMode="auto">
          <a:xfrm>
            <a:off x="1057546" y="5265936"/>
            <a:ext cx="249827" cy="249832"/>
          </a:xfrm>
          <a:prstGeom prst="rect">
            <a:avLst/>
          </a:prstGeom>
        </p:spPr>
      </p:pic>
      <p:sp>
        <p:nvSpPr>
          <p:cNvPr id="998538627" name="Text 22"/>
          <p:cNvSpPr/>
          <p:nvPr/>
        </p:nvSpPr>
        <p:spPr bwMode="auto">
          <a:xfrm>
            <a:off x="904852" y="5835154"/>
            <a:ext cx="10381990" cy="26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</a:rPr>
              <a:t>Browser History</a:t>
            </a:r>
            <a:endParaRPr lang="en-US" sz="1650"/>
          </a:p>
        </p:txBody>
      </p:sp>
      <p:pic>
        <p:nvPicPr>
          <p:cNvPr id="1922102166" name="Picture 32"/>
          <p:cNvPicPr>
            <a:picLocks noChangeAspect="1"/>
          </p:cNvPicPr>
          <p:nvPr/>
        </p:nvPicPr>
        <p:blipFill rotWithShape="1">
          <a:blip r:embed="rId17"/>
          <a:stretch/>
        </p:blipFill>
        <p:spPr bwMode="auto">
          <a:xfrm>
            <a:off x="10081077" y="6400760"/>
            <a:ext cx="2110923" cy="457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5801108" name="Text 0"/>
          <p:cNvSpPr/>
          <p:nvPr/>
        </p:nvSpPr>
        <p:spPr bwMode="auto">
          <a:xfrm>
            <a:off x="719814" y="671612"/>
            <a:ext cx="10752067" cy="555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45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Investigation Dashboard</a:t>
            </a:r>
            <a:endParaRPr lang="en-US" sz="3450"/>
          </a:p>
        </p:txBody>
      </p:sp>
      <p:pic>
        <p:nvPicPr>
          <p:cNvPr id="89828734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6132" y="2205335"/>
            <a:ext cx="3280586" cy="3280668"/>
          </a:xfrm>
          <a:prstGeom prst="rect">
            <a:avLst/>
          </a:prstGeom>
        </p:spPr>
      </p:pic>
      <p:pic>
        <p:nvPicPr>
          <p:cNvPr id="1884299535" name="Image 1" descr="preencoded.png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4656120" y="1713905"/>
            <a:ext cx="2150314" cy="2039045"/>
          </a:xfrm>
          <a:prstGeom prst="rect">
            <a:avLst/>
          </a:prstGeom>
        </p:spPr>
      </p:pic>
      <p:sp>
        <p:nvSpPr>
          <p:cNvPr id="214563091" name="Text 1"/>
          <p:cNvSpPr/>
          <p:nvPr/>
        </p:nvSpPr>
        <p:spPr bwMode="auto">
          <a:xfrm>
            <a:off x="4978474" y="1934666"/>
            <a:ext cx="1607204" cy="555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7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</a:rPr>
              <a:t>Timeline View</a:t>
            </a:r>
            <a:endParaRPr lang="en-US" sz="1700"/>
          </a:p>
        </p:txBody>
      </p:sp>
      <p:sp>
        <p:nvSpPr>
          <p:cNvPr id="1749361069" name="Text 2"/>
          <p:cNvSpPr/>
          <p:nvPr/>
        </p:nvSpPr>
        <p:spPr bwMode="auto">
          <a:xfrm>
            <a:off x="4978474" y="2675235"/>
            <a:ext cx="1607204" cy="856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  <a:defRPr/>
            </a:pPr>
            <a:r>
              <a:rPr lang="en-US"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Chronological event reconstruction.</a:t>
            </a:r>
            <a:endParaRPr lang="en-US" sz="1500"/>
          </a:p>
        </p:txBody>
      </p:sp>
      <p:pic>
        <p:nvPicPr>
          <p:cNvPr id="974785348" name="Image 2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991969" y="1713905"/>
            <a:ext cx="2150314" cy="2039045"/>
          </a:xfrm>
          <a:prstGeom prst="rect">
            <a:avLst/>
          </a:prstGeom>
        </p:spPr>
      </p:pic>
      <p:sp>
        <p:nvSpPr>
          <p:cNvPr id="1965328115" name="Text 3"/>
          <p:cNvSpPr/>
          <p:nvPr/>
        </p:nvSpPr>
        <p:spPr bwMode="auto">
          <a:xfrm>
            <a:off x="7314322" y="1934666"/>
            <a:ext cx="1607204" cy="555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7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</a:rPr>
              <a:t>Relationship Graph</a:t>
            </a:r>
            <a:endParaRPr lang="en-US" sz="1700"/>
          </a:p>
        </p:txBody>
      </p:sp>
      <p:sp>
        <p:nvSpPr>
          <p:cNvPr id="1166773555" name="Text 4"/>
          <p:cNvSpPr/>
          <p:nvPr/>
        </p:nvSpPr>
        <p:spPr bwMode="auto">
          <a:xfrm>
            <a:off x="7314322" y="2675235"/>
            <a:ext cx="1607204" cy="856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  <a:defRPr/>
            </a:pPr>
            <a:r>
              <a:rPr lang="en-US"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Visual network of contacts and communications.</a:t>
            </a:r>
            <a:endParaRPr lang="en-US" sz="1500"/>
          </a:p>
        </p:txBody>
      </p:sp>
      <p:pic>
        <p:nvPicPr>
          <p:cNvPr id="1926210864" name="Image 3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327817" y="1713905"/>
            <a:ext cx="2150314" cy="2039045"/>
          </a:xfrm>
          <a:prstGeom prst="rect">
            <a:avLst/>
          </a:prstGeom>
        </p:spPr>
      </p:pic>
      <p:sp>
        <p:nvSpPr>
          <p:cNvPr id="512387354" name="Text 5"/>
          <p:cNvSpPr/>
          <p:nvPr/>
        </p:nvSpPr>
        <p:spPr bwMode="auto">
          <a:xfrm>
            <a:off x="9650171" y="1934666"/>
            <a:ext cx="1607204" cy="277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7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</a:rPr>
              <a:t>Location Map</a:t>
            </a:r>
            <a:endParaRPr lang="en-US" sz="1700"/>
          </a:p>
        </p:txBody>
      </p:sp>
      <p:sp>
        <p:nvSpPr>
          <p:cNvPr id="2014934804" name="Text 6"/>
          <p:cNvSpPr/>
          <p:nvPr/>
        </p:nvSpPr>
        <p:spPr bwMode="auto">
          <a:xfrm>
            <a:off x="9650171" y="2397720"/>
            <a:ext cx="1607204" cy="571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  <a:defRPr/>
            </a:pPr>
            <a:r>
              <a:rPr lang="en-US"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GPS history plotted geographically.</a:t>
            </a:r>
            <a:endParaRPr lang="en-US" sz="1500"/>
          </a:p>
        </p:txBody>
      </p:sp>
      <p:pic>
        <p:nvPicPr>
          <p:cNvPr id="703716224" name="Image 4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656120" y="3938488"/>
            <a:ext cx="2150314" cy="2039045"/>
          </a:xfrm>
          <a:prstGeom prst="rect">
            <a:avLst/>
          </a:prstGeom>
        </p:spPr>
      </p:pic>
      <p:sp>
        <p:nvSpPr>
          <p:cNvPr id="1606557801" name="Text 7"/>
          <p:cNvSpPr/>
          <p:nvPr/>
        </p:nvSpPr>
        <p:spPr bwMode="auto">
          <a:xfrm>
            <a:off x="4978474" y="4159250"/>
            <a:ext cx="1607204" cy="555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7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</a:rPr>
              <a:t>Communication Stats</a:t>
            </a:r>
            <a:endParaRPr lang="en-US" sz="1700"/>
          </a:p>
        </p:txBody>
      </p:sp>
      <p:sp>
        <p:nvSpPr>
          <p:cNvPr id="455680991" name="Text 8"/>
          <p:cNvSpPr/>
          <p:nvPr/>
        </p:nvSpPr>
        <p:spPr bwMode="auto">
          <a:xfrm>
            <a:off x="4978474" y="4899819"/>
            <a:ext cx="1607204" cy="571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  <a:defRPr/>
            </a:pPr>
            <a:r>
              <a:rPr lang="en-US"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Call and message frequency analysis.</a:t>
            </a:r>
            <a:endParaRPr lang="en-US" sz="1500"/>
          </a:p>
        </p:txBody>
      </p:sp>
      <p:pic>
        <p:nvPicPr>
          <p:cNvPr id="1062222180" name="Image 5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991969" y="3938488"/>
            <a:ext cx="2150314" cy="2039045"/>
          </a:xfrm>
          <a:prstGeom prst="rect">
            <a:avLst/>
          </a:prstGeom>
        </p:spPr>
      </p:pic>
      <p:sp>
        <p:nvSpPr>
          <p:cNvPr id="2038281680" name="Text 9"/>
          <p:cNvSpPr/>
          <p:nvPr/>
        </p:nvSpPr>
        <p:spPr bwMode="auto">
          <a:xfrm>
            <a:off x="7314322" y="4159250"/>
            <a:ext cx="1607204" cy="555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7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</a:rPr>
              <a:t>Keyword Search</a:t>
            </a:r>
            <a:endParaRPr lang="en-US" sz="1700"/>
          </a:p>
        </p:txBody>
      </p:sp>
      <p:sp>
        <p:nvSpPr>
          <p:cNvPr id="1679310257" name="Text 10"/>
          <p:cNvSpPr/>
          <p:nvPr/>
        </p:nvSpPr>
        <p:spPr bwMode="auto">
          <a:xfrm>
            <a:off x="7314322" y="4899819"/>
            <a:ext cx="1607204" cy="856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  <a:defRPr/>
            </a:pPr>
            <a:r>
              <a:rPr lang="en-US" sz="15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Instant search across all evidence sources.</a:t>
            </a:r>
            <a:endParaRPr lang="en-US" sz="1500"/>
          </a:p>
        </p:txBody>
      </p:sp>
      <p:pic>
        <p:nvPicPr>
          <p:cNvPr id="80023747" name="Picture 19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0081077" y="6400760"/>
            <a:ext cx="2110923" cy="457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6807010" name="Text 0"/>
          <p:cNvSpPr/>
          <p:nvPr/>
        </p:nvSpPr>
        <p:spPr bwMode="auto">
          <a:xfrm>
            <a:off x="719814" y="1591765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65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AI-Powered Investigation Assistant</a:t>
            </a:r>
            <a:endParaRPr lang="en-US" sz="3650"/>
          </a:p>
        </p:txBody>
      </p:sp>
      <p:sp>
        <p:nvSpPr>
          <p:cNvPr id="490985692" name="Text 1"/>
          <p:cNvSpPr/>
          <p:nvPr/>
        </p:nvSpPr>
        <p:spPr bwMode="auto">
          <a:xfrm>
            <a:off x="719814" y="2587526"/>
            <a:ext cx="11361652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Ask natural language questions to instantly query forensic data.</a:t>
            </a:r>
            <a:endParaRPr lang="en-US" sz="1600"/>
          </a:p>
        </p:txBody>
      </p:sp>
      <p:sp>
        <p:nvSpPr>
          <p:cNvPr id="1958745548" name="Text 2"/>
          <p:cNvSpPr/>
          <p:nvPr/>
        </p:nvSpPr>
        <p:spPr bwMode="auto">
          <a:xfrm>
            <a:off x="925489" y="3333055"/>
            <a:ext cx="3035522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Show all conversations with </a:t>
            </a:r>
            <a:r>
              <a:rPr lang="en-US" sz="1600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</a:rPr>
              <a:t>Rahul</a:t>
            </a: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.</a:t>
            </a:r>
            <a:endParaRPr lang="en-US" sz="1600"/>
          </a:p>
        </p:txBody>
      </p:sp>
      <p:sp>
        <p:nvSpPr>
          <p:cNvPr id="1064627249" name="Text 3"/>
          <p:cNvSpPr/>
          <p:nvPr/>
        </p:nvSpPr>
        <p:spPr bwMode="auto">
          <a:xfrm>
            <a:off x="4578037" y="3333055"/>
            <a:ext cx="3035522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List calls made </a:t>
            </a:r>
            <a:r>
              <a:rPr lang="en-US" sz="1600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</a:rPr>
              <a:t>after 10 PM</a:t>
            </a: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.</a:t>
            </a:r>
            <a:endParaRPr lang="en-US" sz="1600"/>
          </a:p>
        </p:txBody>
      </p:sp>
      <p:sp>
        <p:nvSpPr>
          <p:cNvPr id="1375160904" name="Text 4"/>
          <p:cNvSpPr/>
          <p:nvPr/>
        </p:nvSpPr>
        <p:spPr bwMode="auto">
          <a:xfrm>
            <a:off x="8230585" y="3333055"/>
            <a:ext cx="3035522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Display all </a:t>
            </a:r>
            <a:r>
              <a:rPr lang="en-US" sz="1600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</a:rPr>
              <a:t>visited locations</a:t>
            </a: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.</a:t>
            </a:r>
            <a:endParaRPr lang="en-US" sz="1600"/>
          </a:p>
        </p:txBody>
      </p:sp>
      <p:sp>
        <p:nvSpPr>
          <p:cNvPr id="1497438863" name="Text 5"/>
          <p:cNvSpPr/>
          <p:nvPr/>
        </p:nvSpPr>
        <p:spPr bwMode="auto">
          <a:xfrm>
            <a:off x="1615299" y="4505325"/>
            <a:ext cx="3269522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Find the </a:t>
            </a:r>
            <a:r>
              <a:rPr lang="en-US" sz="1600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</a:rPr>
              <a:t>most contacted number</a:t>
            </a: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.</a:t>
            </a:r>
            <a:endParaRPr lang="en-US" sz="1600"/>
          </a:p>
        </p:txBody>
      </p:sp>
      <p:sp>
        <p:nvSpPr>
          <p:cNvPr id="353913094" name="Text 6"/>
          <p:cNvSpPr/>
          <p:nvPr/>
        </p:nvSpPr>
        <p:spPr bwMode="auto">
          <a:xfrm>
            <a:off x="6989848" y="4351089"/>
            <a:ext cx="4861796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Generate a </a:t>
            </a:r>
            <a:r>
              <a:rPr lang="en-US" sz="1600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</a:rPr>
              <a:t>case summary</a:t>
            </a: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.</a:t>
            </a:r>
            <a:endParaRPr lang="en-US" sz="1600"/>
          </a:p>
        </p:txBody>
      </p:sp>
      <p:pic>
        <p:nvPicPr>
          <p:cNvPr id="1417963430" name="Picture 1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081077" y="6400760"/>
            <a:ext cx="2110923" cy="457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741465" name="Text 0"/>
          <p:cNvSpPr/>
          <p:nvPr/>
        </p:nvSpPr>
        <p:spPr bwMode="auto">
          <a:xfrm>
            <a:off x="719814" y="818653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65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Advantages &amp; What's Next</a:t>
            </a:r>
            <a:endParaRPr lang="en-US" sz="3650"/>
          </a:p>
        </p:txBody>
      </p:sp>
      <p:sp>
        <p:nvSpPr>
          <p:cNvPr id="2031336025" name="Shape 1"/>
          <p:cNvSpPr/>
          <p:nvPr/>
        </p:nvSpPr>
        <p:spPr bwMode="auto">
          <a:xfrm>
            <a:off x="571684" y="1711523"/>
            <a:ext cx="5421375" cy="2985988"/>
          </a:xfrm>
          <a:prstGeom prst="roundRect">
            <a:avLst>
              <a:gd name="adj" fmla="val 1033"/>
            </a:avLst>
          </a:prstGeom>
          <a:solidFill>
            <a:srgbClr val="2D2E34"/>
          </a:solidFill>
          <a:ln/>
        </p:spPr>
      </p:sp>
      <p:sp>
        <p:nvSpPr>
          <p:cNvPr id="584302351" name="Text 2"/>
          <p:cNvSpPr/>
          <p:nvPr/>
        </p:nvSpPr>
        <p:spPr bwMode="auto">
          <a:xfrm>
            <a:off x="777359" y="1917204"/>
            <a:ext cx="5010025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Key Advantages</a:t>
            </a:r>
            <a:endParaRPr lang="en-US" sz="1800"/>
          </a:p>
        </p:txBody>
      </p:sp>
      <p:sp>
        <p:nvSpPr>
          <p:cNvPr id="1956580166" name="Text 3"/>
          <p:cNvSpPr/>
          <p:nvPr/>
        </p:nvSpPr>
        <p:spPr bwMode="auto">
          <a:xfrm>
            <a:off x="777359" y="2415084"/>
            <a:ext cx="5010025" cy="2210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500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Faster evidence organization</a:t>
            </a:r>
            <a:endParaRPr lang="en-US" sz="1600"/>
          </a:p>
          <a:p>
            <a:pPr marL="325120" indent="-325120" algn="l">
              <a:lnSpc>
                <a:spcPct val="12500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Improved investigation workflow</a:t>
            </a:r>
            <a:endParaRPr lang="en-US" sz="1600"/>
          </a:p>
          <a:p>
            <a:pPr marL="325120" indent="-325120" algn="l">
              <a:lnSpc>
                <a:spcPct val="12500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Better visualization of data</a:t>
            </a:r>
            <a:endParaRPr lang="en-US" sz="1600"/>
          </a:p>
          <a:p>
            <a:pPr marL="325120" indent="-325120" algn="l">
              <a:lnSpc>
                <a:spcPct val="12500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Reduced manual effort</a:t>
            </a:r>
            <a:endParaRPr lang="en-US" sz="1600"/>
          </a:p>
          <a:p>
            <a:pPr marL="325120" indent="-325120" algn="l">
              <a:lnSpc>
                <a:spcPct val="12500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Centralized case management</a:t>
            </a:r>
            <a:endParaRPr lang="en-US" sz="1600"/>
          </a:p>
          <a:p>
            <a:pPr marL="325120" indent="-325120" algn="l">
              <a:lnSpc>
                <a:spcPct val="12500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Easy report generation</a:t>
            </a:r>
            <a:endParaRPr lang="en-US" sz="1600"/>
          </a:p>
        </p:txBody>
      </p:sp>
      <p:sp>
        <p:nvSpPr>
          <p:cNvPr id="695194821" name="Text 4"/>
          <p:cNvSpPr/>
          <p:nvPr/>
        </p:nvSpPr>
        <p:spPr bwMode="auto">
          <a:xfrm>
            <a:off x="6353115" y="1917204"/>
            <a:ext cx="5125115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</a:rPr>
              <a:t>Future Enhancements</a:t>
            </a:r>
            <a:endParaRPr lang="en-US" sz="1800"/>
          </a:p>
        </p:txBody>
      </p:sp>
      <p:sp>
        <p:nvSpPr>
          <p:cNvPr id="189222070" name="Text 5"/>
          <p:cNvSpPr/>
          <p:nvPr/>
        </p:nvSpPr>
        <p:spPr bwMode="auto">
          <a:xfrm>
            <a:off x="6353115" y="2415084"/>
            <a:ext cx="5125115" cy="2210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500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Multi-device correlation</a:t>
            </a:r>
            <a:endParaRPr lang="en-US" sz="1600"/>
          </a:p>
          <a:p>
            <a:pPr marL="325120" indent="-325120" algn="l">
              <a:lnSpc>
                <a:spcPct val="12500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Face recognition &amp; voice transcription</a:t>
            </a:r>
            <a:endParaRPr lang="en-US" sz="1600"/>
          </a:p>
          <a:p>
            <a:pPr marL="325120" indent="-325120" algn="l">
              <a:lnSpc>
                <a:spcPct val="12500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Multilingual analysis</a:t>
            </a:r>
            <a:endParaRPr lang="en-US" sz="1600"/>
          </a:p>
          <a:p>
            <a:pPr marL="325120" indent="-325120" algn="l">
              <a:lnSpc>
                <a:spcPct val="12500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Offline deployment</a:t>
            </a:r>
            <a:endParaRPr lang="en-US" sz="1600"/>
          </a:p>
          <a:p>
            <a:pPr marL="325120" indent="-325120" algn="l">
              <a:lnSpc>
                <a:spcPct val="12500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Advanced document intelligence</a:t>
            </a:r>
            <a:endParaRPr lang="en-US" sz="1600"/>
          </a:p>
          <a:p>
            <a:pPr marL="325120" indent="-325120" algn="l">
              <a:lnSpc>
                <a:spcPct val="125000"/>
              </a:lnSpc>
              <a:buSzPct val="100000"/>
              <a:buChar char="•"/>
              <a:defRPr/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Court-ready reporting</a:t>
            </a:r>
            <a:endParaRPr lang="en-US" sz="1600"/>
          </a:p>
        </p:txBody>
      </p:sp>
      <p:sp>
        <p:nvSpPr>
          <p:cNvPr id="467064928" name="Shape 6"/>
          <p:cNvSpPr/>
          <p:nvPr/>
        </p:nvSpPr>
        <p:spPr bwMode="auto">
          <a:xfrm>
            <a:off x="719814" y="4928890"/>
            <a:ext cx="10752067" cy="1110456"/>
          </a:xfrm>
          <a:prstGeom prst="roundRect">
            <a:avLst>
              <a:gd name="adj" fmla="val 2778"/>
            </a:avLst>
          </a:prstGeom>
          <a:solidFill>
            <a:srgbClr val="E4E4E7"/>
          </a:solidFill>
          <a:ln/>
        </p:spPr>
      </p:sp>
      <p:pic>
        <p:nvPicPr>
          <p:cNvPr id="112252208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25489" y="5215533"/>
            <a:ext cx="257069" cy="205680"/>
          </a:xfrm>
          <a:prstGeom prst="rect">
            <a:avLst/>
          </a:prstGeom>
        </p:spPr>
      </p:pic>
      <p:sp>
        <p:nvSpPr>
          <p:cNvPr id="777460622" name="Text 7"/>
          <p:cNvSpPr/>
          <p:nvPr/>
        </p:nvSpPr>
        <p:spPr bwMode="auto">
          <a:xfrm>
            <a:off x="1388234" y="5185966"/>
            <a:ext cx="9877972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6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</a:rPr>
              <a:t>Demo Tip:</a:t>
            </a:r>
            <a:r>
              <a:rPr lang="en-US" sz="1600">
                <a:solidFill>
                  <a:srgbClr val="000000"/>
                </a:solidFill>
                <a:latin typeface="Source Sans 3"/>
                <a:ea typeface="Source Sans 3"/>
                <a:cs typeface="Source Sans 3"/>
              </a:rPr>
              <a:t> Use a realistic mock case (e.g., "Operation Phoenix") with sample chats, call logs, GPS history, and photos to demonstrate the full investigation flow.</a:t>
            </a:r>
            <a:endParaRPr lang="en-US" sz="1600"/>
          </a:p>
        </p:txBody>
      </p:sp>
      <p:pic>
        <p:nvPicPr>
          <p:cNvPr id="330061857" name="Picture 1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081077" y="6400760"/>
            <a:ext cx="2110923" cy="457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ROHIT</dc:creator>
  <cp:lastModifiedBy/>
  <cp:revision>5</cp:revision>
  <dcterms:created xsi:type="dcterms:W3CDTF">2026-07-25T03:06:33Z</dcterms:created>
  <dcterms:modified xsi:type="dcterms:W3CDTF">2026-09-06T13:48:49Z</dcterms:modified>
</cp:coreProperties>
</file>